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4"/>
  </p:notesMasterIdLst>
  <p:handoutMasterIdLst>
    <p:handoutMasterId r:id="rId35"/>
  </p:handoutMasterIdLst>
  <p:sldIdLst>
    <p:sldId id="256" r:id="rId5"/>
    <p:sldId id="309" r:id="rId6"/>
    <p:sldId id="310" r:id="rId7"/>
    <p:sldId id="311" r:id="rId8"/>
    <p:sldId id="312" r:id="rId9"/>
    <p:sldId id="313" r:id="rId10"/>
    <p:sldId id="314" r:id="rId11"/>
    <p:sldId id="316" r:id="rId12"/>
    <p:sldId id="317" r:id="rId13"/>
    <p:sldId id="320" r:id="rId14"/>
    <p:sldId id="319" r:id="rId15"/>
    <p:sldId id="318" r:id="rId16"/>
    <p:sldId id="277" r:id="rId17"/>
    <p:sldId id="261" r:id="rId18"/>
    <p:sldId id="295" r:id="rId19"/>
    <p:sldId id="296" r:id="rId20"/>
    <p:sldId id="298" r:id="rId21"/>
    <p:sldId id="299" r:id="rId22"/>
    <p:sldId id="278" r:id="rId23"/>
    <p:sldId id="266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123" d="100"/>
          <a:sy n="123" d="100"/>
        </p:scale>
        <p:origin x="114" y="14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unsplash.com/photos/aerial-photography-of-red-roof-houses-at-daytime-23OnNfLjY3I" TargetMode="Externa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hyperlink" Target="https://www.oecd.org/en/data/datasets/pisa-2022-database.html#indices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6487" y="4023058"/>
            <a:ext cx="4941771" cy="1122202"/>
          </a:xfrm>
        </p:spPr>
        <p:txBody>
          <a:bodyPr/>
          <a:lstStyle/>
          <a:p>
            <a:r>
              <a:rPr lang="pl-PL" dirty="0"/>
              <a:t>Ekonometria przestrzenna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6487" y="6341060"/>
            <a:ext cx="4941770" cy="396660"/>
          </a:xfrm>
        </p:spPr>
        <p:txBody>
          <a:bodyPr/>
          <a:lstStyle/>
          <a:p>
            <a:r>
              <a:rPr lang="pl-PL" dirty="0"/>
              <a:t>Izabela Reszka, Piotr Wiśniewski, Klaudia Woźniak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3E9FF9-4110-D16C-751A-CDFD31684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38" y="5785220"/>
            <a:ext cx="46196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3CB978E5-08E7-C1B8-2C80-B95ED145A752}"/>
              </a:ext>
            </a:extLst>
          </p:cNvPr>
          <p:cNvSpPr txBox="1"/>
          <p:nvPr/>
        </p:nvSpPr>
        <p:spPr>
          <a:xfrm>
            <a:off x="6896487" y="3653726"/>
            <a:ext cx="357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Analityka Gospodarcza II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AA42544-65BA-4D44-5162-DD564A9F3B4F}"/>
              </a:ext>
            </a:extLst>
          </p:cNvPr>
          <p:cNvSpPr txBox="1"/>
          <p:nvPr/>
        </p:nvSpPr>
        <p:spPr>
          <a:xfrm>
            <a:off x="6896487" y="5233749"/>
            <a:ext cx="4757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>
                <a:solidFill>
                  <a:srgbClr val="00B050"/>
                </a:solidFill>
              </a:rPr>
              <a:t>Przestrzenne zróżnicowanie statusu społeczno-ekonomicznego uczniów w krajach uczestniczących w badaniu PISA (2012–2018)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54F0C962-93EF-5CB9-E8E4-0F2E662FF264}"/>
              </a:ext>
            </a:extLst>
          </p:cNvPr>
          <p:cNvSpPr/>
          <p:nvPr/>
        </p:nvSpPr>
        <p:spPr>
          <a:xfrm>
            <a:off x="0" y="6718514"/>
            <a:ext cx="12192000" cy="1394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16C80081-52FD-DBBB-521E-9CC5BA47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SPIS Treści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0852E84-AE56-40E1-C80A-3D6E30E08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4400874" cy="331389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AutoNum type="arabicPeriod"/>
            </a:pPr>
            <a:r>
              <a:rPr lang="pl-PL" dirty="0"/>
              <a:t>Wprowadzenie</a:t>
            </a:r>
          </a:p>
          <a:p>
            <a:pPr marL="342900" indent="-342900">
              <a:buAutoNum type="arabicPeriod"/>
            </a:pPr>
            <a:r>
              <a:rPr lang="pl-PL" dirty="0"/>
              <a:t>Problem badawczy i pytania</a:t>
            </a:r>
          </a:p>
          <a:p>
            <a:pPr marL="342900" indent="-342900">
              <a:buAutoNum type="arabicPeriod"/>
            </a:pPr>
            <a:r>
              <a:rPr lang="pl-PL" dirty="0"/>
              <a:t>Przegląd literatury</a:t>
            </a:r>
          </a:p>
          <a:p>
            <a:pPr marL="342900" indent="-342900">
              <a:buAutoNum type="arabicPeriod"/>
            </a:pPr>
            <a:r>
              <a:rPr lang="pl-PL" dirty="0"/>
              <a:t>Opis danych</a:t>
            </a:r>
          </a:p>
          <a:p>
            <a:pPr marL="342900" indent="-342900">
              <a:buAutoNum type="arabicPeriod"/>
            </a:pPr>
            <a:r>
              <a:rPr lang="pl-PL" dirty="0"/>
              <a:t>Wstępna analiza danych</a:t>
            </a:r>
          </a:p>
          <a:p>
            <a:pPr marL="342900" indent="-342900">
              <a:buAutoNum type="arabicPeriod"/>
            </a:pPr>
            <a:r>
              <a:rPr lang="pl-PL" dirty="0"/>
              <a:t>Eksploracyjna analiza danych przestrzennych (ESDA)</a:t>
            </a:r>
          </a:p>
          <a:p>
            <a:pPr marL="342900" indent="-342900">
              <a:buAutoNum type="arabicPeriod"/>
            </a:pPr>
            <a:r>
              <a:rPr lang="pl-PL" dirty="0"/>
              <a:t>Modelowanie ekonometryczne</a:t>
            </a:r>
          </a:p>
          <a:p>
            <a:pPr marL="342900" indent="-342900">
              <a:buAutoNum type="arabicPeriod"/>
            </a:pPr>
            <a:r>
              <a:rPr lang="pl-PL" dirty="0"/>
              <a:t>Ocena modelu</a:t>
            </a:r>
          </a:p>
          <a:p>
            <a:pPr marL="342900" indent="-342900">
              <a:buAutoNum type="arabicPeriod"/>
            </a:pPr>
            <a:r>
              <a:rPr lang="pl-PL" dirty="0"/>
              <a:t>Wnioski i rekomendacje</a:t>
            </a:r>
          </a:p>
          <a:p>
            <a:pPr marL="342900" indent="-342900">
              <a:buAutoNum type="arabicPeriod"/>
            </a:pPr>
            <a:r>
              <a:rPr lang="pl-PL" dirty="0"/>
              <a:t>Zakończenie i pytania</a:t>
            </a:r>
          </a:p>
        </p:txBody>
      </p:sp>
    </p:spTree>
    <p:extLst>
      <p:ext uri="{BB962C8B-B14F-4D97-AF65-F5344CB8AC3E}">
        <p14:creationId xmlns:p14="http://schemas.microsoft.com/office/powerpoint/2010/main" val="367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5DEF56-BBFA-0120-CDDB-512C966DD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006671" cy="666427"/>
          </a:xfrm>
        </p:spPr>
        <p:txBody>
          <a:bodyPr>
            <a:normAutofit/>
          </a:bodyPr>
          <a:lstStyle/>
          <a:p>
            <a:r>
              <a:rPr lang="pl-PL" sz="2500" dirty="0"/>
              <a:t>Wprowadzenie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65AFD9F2-2373-2C66-F53B-50D283F501CC}"/>
              </a:ext>
            </a:extLst>
          </p:cNvPr>
          <p:cNvSpPr txBox="1"/>
          <p:nvPr/>
        </p:nvSpPr>
        <p:spPr>
          <a:xfrm>
            <a:off x="123986" y="666427"/>
            <a:ext cx="1194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Analiza przestrzenna statusu społeczno-ekonomicznego uczniów w badaniach PISA (2012-2018)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9779D17E-FE90-2B9E-9660-AB5083B29584}"/>
              </a:ext>
            </a:extLst>
          </p:cNvPr>
          <p:cNvSpPr txBox="1"/>
          <p:nvPr/>
        </p:nvSpPr>
        <p:spPr>
          <a:xfrm>
            <a:off x="271219" y="1859339"/>
            <a:ext cx="57188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pl-PL" b="1" dirty="0"/>
              <a:t>Cel projektu: </a:t>
            </a:r>
            <a:r>
              <a:rPr lang="pl-PL" dirty="0"/>
              <a:t>Analiza przestrzennego zróżnicowania statusu społeczno-ekonomicznego uczniów na podstawie PISA z lat 2012-2018</a:t>
            </a:r>
          </a:p>
          <a:p>
            <a:pPr marL="285750" indent="-285750">
              <a:buFontTx/>
              <a:buChar char="-"/>
            </a:pPr>
            <a:endParaRPr lang="pl-PL" dirty="0"/>
          </a:p>
          <a:p>
            <a:pPr marL="285750" indent="-285750" algn="just">
              <a:buFontTx/>
              <a:buChar char="-"/>
            </a:pPr>
            <a:r>
              <a:rPr lang="pl-PL" b="1" dirty="0"/>
              <a:t>Znaczenie tematu: </a:t>
            </a:r>
            <a:r>
              <a:rPr lang="pl-PL" dirty="0"/>
              <a:t>Rola edukacji jako czynnika wyrównania szans i narzędzia polityki społecznej, szczególnie w kontekście regionalnych dysproporcji</a:t>
            </a:r>
          </a:p>
          <a:p>
            <a:pPr marL="285750" indent="-285750">
              <a:buFontTx/>
              <a:buChar char="-"/>
            </a:pPr>
            <a:endParaRPr lang="pl-PL" dirty="0"/>
          </a:p>
          <a:p>
            <a:pPr marL="285750" indent="-285750" algn="just">
              <a:buFontTx/>
              <a:buChar char="-"/>
            </a:pPr>
            <a:r>
              <a:rPr lang="pl-PL" b="1" dirty="0"/>
              <a:t>Podejście badawcze: </a:t>
            </a:r>
            <a:r>
              <a:rPr lang="pl-PL" dirty="0"/>
              <a:t>Zastosowanie metod ekonometrii przestrzennej do identyfikacji wzorców i zależności przestrzennych w danych edukacyjnych</a:t>
            </a:r>
          </a:p>
        </p:txBody>
      </p:sp>
      <p:pic>
        <p:nvPicPr>
          <p:cNvPr id="1026" name="Picture 2" descr="PISA">
            <a:extLst>
              <a:ext uri="{FF2B5EF4-FFF2-40B4-BE49-F238E27FC236}">
                <a16:creationId xmlns:a16="http://schemas.microsoft.com/office/drawing/2014/main" id="{607F2FEC-8D23-7D93-644F-A15C9D7E5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907" y="2233550"/>
            <a:ext cx="5581070" cy="2376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pole tekstowe 23">
            <a:extLst>
              <a:ext uri="{FF2B5EF4-FFF2-40B4-BE49-F238E27FC236}">
                <a16:creationId xmlns:a16="http://schemas.microsoft.com/office/drawing/2014/main" id="{56148962-D495-452C-135E-DA78B8E6A19D}"/>
              </a:ext>
            </a:extLst>
          </p:cNvPr>
          <p:cNvSpPr txBox="1"/>
          <p:nvPr/>
        </p:nvSpPr>
        <p:spPr>
          <a:xfrm>
            <a:off x="7005234" y="4609865"/>
            <a:ext cx="47777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1200" dirty="0"/>
              <a:t>Logo – PISA: Program Międzynarodowej Oceny Umiejętności Uczniów</a:t>
            </a:r>
          </a:p>
          <a:p>
            <a:endParaRPr lang="pl-PL" dirty="0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F51FF10-65E9-A1F9-53C0-E9E2B5E3333B}"/>
              </a:ext>
            </a:extLst>
          </p:cNvPr>
          <p:cNvSpPr/>
          <p:nvPr/>
        </p:nvSpPr>
        <p:spPr>
          <a:xfrm>
            <a:off x="0" y="6718514"/>
            <a:ext cx="12192000" cy="1394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48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D9D8-4D6E-6300-B19C-70538B0E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4BB88-A9C8-D67C-71DF-BDC724845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277173" cy="666427"/>
          </a:xfrm>
        </p:spPr>
        <p:txBody>
          <a:bodyPr>
            <a:normAutofit fontScale="90000"/>
          </a:bodyPr>
          <a:lstStyle/>
          <a:p>
            <a:r>
              <a:rPr lang="pl-PL" dirty="0"/>
              <a:t>Problem badawczy i pytania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7199EF15-8849-0FA8-E734-29822BB84781}"/>
              </a:ext>
            </a:extLst>
          </p:cNvPr>
          <p:cNvSpPr txBox="1"/>
          <p:nvPr/>
        </p:nvSpPr>
        <p:spPr>
          <a:xfrm>
            <a:off x="123986" y="666427"/>
            <a:ext cx="1194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Zróżnicowanie przestrzenne statusu społeczno-ekonomicznego uczniów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12DD4214-C1A6-C50B-916C-885C9E1928F7}"/>
              </a:ext>
            </a:extLst>
          </p:cNvPr>
          <p:cNvSpPr txBox="1"/>
          <p:nvPr/>
        </p:nvSpPr>
        <p:spPr>
          <a:xfrm>
            <a:off x="271219" y="1859339"/>
            <a:ext cx="57188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pl-PL" b="1" dirty="0"/>
              <a:t>Sformułowanie problemu: </a:t>
            </a:r>
            <a:r>
              <a:rPr lang="pl-PL" dirty="0"/>
              <a:t>czy istnieją regionalne wzorce w statusie społeczno-ekonomicznym uczniów? Jakie czynniki wpływają na te różnice?</a:t>
            </a:r>
          </a:p>
          <a:p>
            <a:pPr marL="285750" indent="-285750">
              <a:buFontTx/>
              <a:buChar char="-"/>
            </a:pPr>
            <a:endParaRPr lang="pl-PL" dirty="0"/>
          </a:p>
          <a:p>
            <a:pPr marL="285750" indent="-285750" algn="just">
              <a:buFontTx/>
              <a:buChar char="-"/>
            </a:pPr>
            <a:r>
              <a:rPr lang="pl-PL" b="1" dirty="0"/>
              <a:t>Uzasadnienie wyboru: </a:t>
            </a:r>
            <a:r>
              <a:rPr lang="pl-PL" dirty="0"/>
              <a:t>Znaczące różnice w poziomie wyników edukacyjnych pomiędzy regionami sugerują wpływ czynników lokalnych</a:t>
            </a:r>
          </a:p>
          <a:p>
            <a:pPr marL="285750" indent="-285750">
              <a:buFontTx/>
              <a:buChar char="-"/>
            </a:pPr>
            <a:endParaRPr lang="pl-PL" dirty="0"/>
          </a:p>
          <a:p>
            <a:pPr marL="285750" indent="-285750" algn="just">
              <a:buFontTx/>
              <a:buChar char="-"/>
            </a:pPr>
            <a:r>
              <a:rPr lang="pl-PL" b="1" dirty="0"/>
              <a:t>Poziom analizy przestrzennej: </a:t>
            </a:r>
            <a:r>
              <a:rPr lang="pl-PL" dirty="0"/>
              <a:t>Analiza przeprowadzona na poziomie krajowym z uwzględnieniem danych PISA oraz komponentu przestrzennego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F75B657-1EFC-8AB8-EE72-2C875EEC6B09}"/>
              </a:ext>
            </a:extLst>
          </p:cNvPr>
          <p:cNvSpPr txBox="1"/>
          <p:nvPr/>
        </p:nvSpPr>
        <p:spPr>
          <a:xfrm>
            <a:off x="7005234" y="5600771"/>
            <a:ext cx="4777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1200" dirty="0">
                <a:hlinkClick r:id="rId2"/>
              </a:rPr>
              <a:t>John </a:t>
            </a:r>
            <a:r>
              <a:rPr lang="pl-PL" sz="1200" dirty="0" err="1">
                <a:hlinkClick r:id="rId2"/>
              </a:rPr>
              <a:t>Cobb</a:t>
            </a:r>
            <a:r>
              <a:rPr lang="pl-PL" sz="1200" dirty="0">
                <a:hlinkClick r:id="rId2"/>
              </a:rPr>
              <a:t> - </a:t>
            </a:r>
            <a:r>
              <a:rPr lang="pl-PL" sz="1200" dirty="0" err="1">
                <a:hlinkClick r:id="rId2"/>
              </a:rPr>
              <a:t>Aerial</a:t>
            </a:r>
            <a:r>
              <a:rPr lang="pl-PL" sz="1200" dirty="0">
                <a:hlinkClick r:id="rId2"/>
              </a:rPr>
              <a:t> </a:t>
            </a:r>
            <a:r>
              <a:rPr lang="pl-PL" sz="1200" dirty="0" err="1">
                <a:hlinkClick r:id="rId2"/>
              </a:rPr>
              <a:t>Photography</a:t>
            </a:r>
            <a:r>
              <a:rPr lang="pl-PL" sz="1200" dirty="0"/>
              <a:t> </a:t>
            </a:r>
          </a:p>
        </p:txBody>
      </p:sp>
      <p:pic>
        <p:nvPicPr>
          <p:cNvPr id="2050" name="Picture 2" descr="aerial photography of red roof houses at daytime">
            <a:extLst>
              <a:ext uri="{FF2B5EF4-FFF2-40B4-BE49-F238E27FC236}">
                <a16:creationId xmlns:a16="http://schemas.microsoft.com/office/drawing/2014/main" id="{555E2A2E-92A8-2506-D67C-18AD310ED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094" y="1738849"/>
            <a:ext cx="5792883" cy="38619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423DDA13-51D7-6CC6-8F38-110E9F35C495}"/>
              </a:ext>
            </a:extLst>
          </p:cNvPr>
          <p:cNvSpPr/>
          <p:nvPr/>
        </p:nvSpPr>
        <p:spPr>
          <a:xfrm>
            <a:off x="0" y="6718514"/>
            <a:ext cx="12192000" cy="1394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8643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ytuł 33">
            <a:extLst>
              <a:ext uri="{FF2B5EF4-FFF2-40B4-BE49-F238E27FC236}">
                <a16:creationId xmlns:a16="http://schemas.microsoft.com/office/drawing/2014/main" id="{6A9D0331-BFE2-63F7-4FAF-1768BFAC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804" y="2030823"/>
            <a:ext cx="6343196" cy="365126"/>
          </a:xfrm>
        </p:spPr>
        <p:txBody>
          <a:bodyPr>
            <a:normAutofit fontScale="90000"/>
          </a:bodyPr>
          <a:lstStyle/>
          <a:p>
            <a:r>
              <a:rPr lang="pl-PL" sz="2000" dirty="0"/>
              <a:t>Wykorzystana literatura</a:t>
            </a:r>
          </a:p>
        </p:txBody>
      </p:sp>
      <p:sp>
        <p:nvSpPr>
          <p:cNvPr id="37" name="Symbol zastępczy tekstu 36">
            <a:extLst>
              <a:ext uri="{FF2B5EF4-FFF2-40B4-BE49-F238E27FC236}">
                <a16:creationId xmlns:a16="http://schemas.microsoft.com/office/drawing/2014/main" id="{2F94D398-D530-EBB5-17DA-15F466FED3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Literatura polska</a:t>
            </a:r>
          </a:p>
        </p:txBody>
      </p:sp>
      <p:sp>
        <p:nvSpPr>
          <p:cNvPr id="41" name="Symbol zastępczy tekstu 40">
            <a:extLst>
              <a:ext uri="{FF2B5EF4-FFF2-40B4-BE49-F238E27FC236}">
                <a16:creationId xmlns:a16="http://schemas.microsoft.com/office/drawing/2014/main" id="{43BFF470-BDDF-C8BA-23A0-63547252FA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1288548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Olejnik, A., &amp; Olejnik, J. (2021). </a:t>
            </a:r>
            <a:r>
              <a:rPr lang="pl-PL" i="1" dirty="0"/>
              <a:t>Metody stochastyczne w ekonometrii przestrzennej – nowoczesna analiza asymptotyczna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Łódź: Wydawnictwo Uniwersytetu Łódzkiego.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Antczak, E., Lewandowska-</a:t>
            </a:r>
            <a:r>
              <a:rPr lang="pl-PL" dirty="0" err="1"/>
              <a:t>Gwarda</a:t>
            </a:r>
            <a:r>
              <a:rPr lang="pl-PL" dirty="0"/>
              <a:t>, K., Olejnik, A., &amp; Suchecki, B. (2010).</a:t>
            </a:r>
            <a:r>
              <a:rPr lang="pl-PL" i="1" dirty="0"/>
              <a:t>Ekonometria przestrzenna. Metody i modele analizy danych przestrzennych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Łódź: Wydawnictwo Uniwersytetu Łódzkiego.</a:t>
            </a:r>
          </a:p>
        </p:txBody>
      </p:sp>
      <p:sp>
        <p:nvSpPr>
          <p:cNvPr id="39" name="Symbol zastępczy tekstu 38">
            <a:extLst>
              <a:ext uri="{FF2B5EF4-FFF2-40B4-BE49-F238E27FC236}">
                <a16:creationId xmlns:a16="http://schemas.microsoft.com/office/drawing/2014/main" id="{41BA9D62-3705-F6A1-4135-C08DBEF25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9680" y="4257428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pl-PL" dirty="0"/>
              <a:t>Literatura zagraniczna</a:t>
            </a:r>
          </a:p>
        </p:txBody>
      </p:sp>
      <p:sp>
        <p:nvSpPr>
          <p:cNvPr id="42" name="Symbol zastępczy tekstu 41">
            <a:extLst>
              <a:ext uri="{FF2B5EF4-FFF2-40B4-BE49-F238E27FC236}">
                <a16:creationId xmlns:a16="http://schemas.microsoft.com/office/drawing/2014/main" id="{4ABC2F23-4653-159D-DCF2-C9D87E608D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9254" y="4586853"/>
            <a:ext cx="5431971" cy="1581472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i="1" dirty="0"/>
              <a:t>Anselin, L. (1988).</a:t>
            </a:r>
            <a:br>
              <a:rPr lang="pl-PL" sz="1200" i="1" dirty="0"/>
            </a:br>
            <a:r>
              <a:rPr lang="pl-PL" sz="1200" i="1" dirty="0"/>
              <a:t>Spatial Econometrics: Methods and Models.</a:t>
            </a:r>
            <a:br>
              <a:rPr lang="pl-PL" sz="1200" i="1" dirty="0"/>
            </a:br>
            <a:r>
              <a:rPr lang="pl-PL" sz="1200" i="1" dirty="0"/>
              <a:t>Dordrecht: Kluwer Academic Publishers.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Arbia, G. (2006).</a:t>
            </a:r>
            <a:br>
              <a:rPr lang="en-US" sz="1200" i="1" dirty="0"/>
            </a:br>
            <a:r>
              <a:rPr lang="en-US" sz="1200" i="1" dirty="0"/>
              <a:t>Spatial Econometrics: Statistical Foundations and Applications to Regional Convergence.</a:t>
            </a:r>
            <a:br>
              <a:rPr lang="en-US" sz="1200" i="1" dirty="0"/>
            </a:br>
            <a:r>
              <a:rPr lang="en-US" sz="1200" i="1" dirty="0"/>
              <a:t>Berlin: Springer-Verlag.</a:t>
            </a:r>
            <a:endParaRPr lang="pl-PL" sz="1200" i="1" dirty="0"/>
          </a:p>
          <a:p>
            <a:endParaRPr lang="pl-PL" dirty="0"/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BD9C96FC-A936-3B36-5148-B4DC94AA67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7173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Przegląd literatury</a:t>
            </a:r>
          </a:p>
        </p:txBody>
      </p:sp>
      <p:pic>
        <p:nvPicPr>
          <p:cNvPr id="1028" name="Picture 4" descr="club master eyeglasses on pile of three books">
            <a:extLst>
              <a:ext uri="{FF2B5EF4-FFF2-40B4-BE49-F238E27FC236}">
                <a16:creationId xmlns:a16="http://schemas.microsoft.com/office/drawing/2014/main" id="{90CCD2CD-272D-7374-9564-B72618D5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17" y="1100030"/>
            <a:ext cx="3673274" cy="47073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Prostokąt 46">
            <a:extLst>
              <a:ext uri="{FF2B5EF4-FFF2-40B4-BE49-F238E27FC236}">
                <a16:creationId xmlns:a16="http://schemas.microsoft.com/office/drawing/2014/main" id="{212D0F12-79E6-9105-BBEF-C93BEE2BC86F}"/>
              </a:ext>
            </a:extLst>
          </p:cNvPr>
          <p:cNvSpPr/>
          <p:nvPr/>
        </p:nvSpPr>
        <p:spPr>
          <a:xfrm>
            <a:off x="0" y="6718514"/>
            <a:ext cx="12192000" cy="1394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984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C8EDB7-F6DB-FA6A-3A59-454CB16C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Źródła, zmienne i przestrzenna struktura danych pisa 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6572F7F-59E7-DA01-A3CD-B46C5B003C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pl-PL" dirty="0"/>
              <a:t>ŹRÓDŁA DANYCH</a:t>
            </a:r>
            <a:endParaRPr lang="pl-PL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l-PL" dirty="0">
                <a:hlinkClick r:id="rId2"/>
              </a:rPr>
              <a:t>Baza danych PISA</a:t>
            </a:r>
            <a:endParaRPr lang="pl-PL" dirty="0"/>
          </a:p>
          <a:p>
            <a:pPr algn="just"/>
            <a:r>
              <a:rPr lang="pl-PL" dirty="0"/>
              <a:t>Dane badań z PISA (2012-2018) uzupełnione o dane makroregionalne oraz pliki shapefile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CE70B60-2EC3-33BC-5C7A-DB3A6157EB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ctr"/>
            <a:r>
              <a:rPr lang="pl-PL" dirty="0"/>
              <a:t>STRUKTURA DANYCH</a:t>
            </a:r>
          </a:p>
          <a:p>
            <a:pPr algn="just"/>
            <a:r>
              <a:rPr lang="pl-PL" dirty="0"/>
              <a:t>Zmienna zależna: status społeczno-ekonomiczny uczniów (ESCS); zmienne objaśniające: dochody, wykształcenie rodziców, typ szkoły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573D7E66-B26F-5A53-504F-CFCA94488455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algn="ctr"/>
            <a:r>
              <a:rPr lang="pl-PL" dirty="0"/>
              <a:t>KOMPONENT PRZESTRZENNY</a:t>
            </a:r>
          </a:p>
          <a:p>
            <a:pPr algn="just"/>
            <a:r>
              <a:rPr lang="pl-PL" dirty="0"/>
              <a:t>Jednostki analizy: kraje uczestniczące w PISA, zastosowano macierz wag sąsiedztwa przestrzennego</a:t>
            </a:r>
          </a:p>
        </p:txBody>
      </p:sp>
      <p:sp>
        <p:nvSpPr>
          <p:cNvPr id="31" name="Tytuł 1">
            <a:extLst>
              <a:ext uri="{FF2B5EF4-FFF2-40B4-BE49-F238E27FC236}">
                <a16:creationId xmlns:a16="http://schemas.microsoft.com/office/drawing/2014/main" id="{7F3D8D7E-F219-55F7-8E6D-0EACA89322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7173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Opis Danych</a:t>
            </a:r>
          </a:p>
        </p:txBody>
      </p:sp>
      <p:pic>
        <p:nvPicPr>
          <p:cNvPr id="16" name="Grafika 15" descr="Baza danych">
            <a:extLst>
              <a:ext uri="{FF2B5EF4-FFF2-40B4-BE49-F238E27FC236}">
                <a16:creationId xmlns:a16="http://schemas.microsoft.com/office/drawing/2014/main" id="{82907492-9084-EDDA-4184-4388908D9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9800" y="2731692"/>
            <a:ext cx="914400" cy="914400"/>
          </a:xfrm>
          <a:prstGeom prst="rect">
            <a:avLst/>
          </a:prstGeom>
        </p:spPr>
      </p:pic>
      <p:pic>
        <p:nvPicPr>
          <p:cNvPr id="18" name="Grafika 17" descr="Koła zębate">
            <a:extLst>
              <a:ext uri="{FF2B5EF4-FFF2-40B4-BE49-F238E27FC236}">
                <a16:creationId xmlns:a16="http://schemas.microsoft.com/office/drawing/2014/main" id="{64BACFC3-2540-772D-FEAD-B88DF0FC0F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2690323"/>
            <a:ext cx="914400" cy="914400"/>
          </a:xfrm>
          <a:prstGeom prst="rect">
            <a:avLst/>
          </a:prstGeom>
        </p:spPr>
      </p:pic>
      <p:pic>
        <p:nvPicPr>
          <p:cNvPr id="33" name="Grafika 32" descr="Mapa z pinezką">
            <a:extLst>
              <a:ext uri="{FF2B5EF4-FFF2-40B4-BE49-F238E27FC236}">
                <a16:creationId xmlns:a16="http://schemas.microsoft.com/office/drawing/2014/main" id="{D17F1615-8E5D-AA64-1362-1B2E78A2ED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0458" y="2731692"/>
            <a:ext cx="914400" cy="914400"/>
          </a:xfrm>
          <a:prstGeom prst="rect">
            <a:avLst/>
          </a:prstGeom>
        </p:spPr>
      </p:pic>
      <p:sp>
        <p:nvSpPr>
          <p:cNvPr id="34" name="Prostokąt 33">
            <a:extLst>
              <a:ext uri="{FF2B5EF4-FFF2-40B4-BE49-F238E27FC236}">
                <a16:creationId xmlns:a16="http://schemas.microsoft.com/office/drawing/2014/main" id="{6C1D1130-064F-70C9-8D8E-815519D71714}"/>
              </a:ext>
            </a:extLst>
          </p:cNvPr>
          <p:cNvSpPr/>
          <p:nvPr/>
        </p:nvSpPr>
        <p:spPr>
          <a:xfrm>
            <a:off x="0" y="6718514"/>
            <a:ext cx="12192000" cy="1394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446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37071A-A391-D938-D73E-54F3A17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Opisowa charakterystyka danych pisa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ED852FE-F781-B81C-F796-501B403A6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438" y="1800794"/>
            <a:ext cx="2882475" cy="823912"/>
          </a:xfrm>
        </p:spPr>
        <p:txBody>
          <a:bodyPr/>
          <a:lstStyle/>
          <a:p>
            <a:pPr algn="ctr"/>
            <a:r>
              <a:rPr lang="pl-PL" dirty="0"/>
              <a:t>Identyfikacja anomalii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5279F39-D99E-4D6A-288B-C0C198088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00794"/>
            <a:ext cx="2896671" cy="823912"/>
          </a:xfrm>
        </p:spPr>
        <p:txBody>
          <a:bodyPr/>
          <a:lstStyle/>
          <a:p>
            <a:pPr algn="ctr"/>
            <a:r>
              <a:rPr lang="pl-PL" dirty="0"/>
              <a:t>Statystyki opisowe</a:t>
            </a:r>
          </a:p>
        </p:txBody>
      </p:sp>
      <p:graphicFrame>
        <p:nvGraphicFramePr>
          <p:cNvPr id="16" name="Symbol zastępczy zawartości 15">
            <a:extLst>
              <a:ext uri="{FF2B5EF4-FFF2-40B4-BE49-F238E27FC236}">
                <a16:creationId xmlns:a16="http://schemas.microsoft.com/office/drawing/2014/main" id="{9482B90E-AF52-4542-3628-9953BB956192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475745963"/>
              </p:ext>
            </p:extLst>
          </p:nvPr>
        </p:nvGraphicFramePr>
        <p:xfrm>
          <a:off x="4648737" y="2695509"/>
          <a:ext cx="2895599" cy="1345100"/>
        </p:xfrm>
        <a:graphic>
          <a:graphicData uri="http://schemas.openxmlformats.org/drawingml/2006/table">
            <a:tbl>
              <a:tblPr/>
              <a:tblGrid>
                <a:gridCol w="413657">
                  <a:extLst>
                    <a:ext uri="{9D8B030D-6E8A-4147-A177-3AD203B41FA5}">
                      <a16:colId xmlns:a16="http://schemas.microsoft.com/office/drawing/2014/main" val="3542600785"/>
                    </a:ext>
                  </a:extLst>
                </a:gridCol>
                <a:gridCol w="413657">
                  <a:extLst>
                    <a:ext uri="{9D8B030D-6E8A-4147-A177-3AD203B41FA5}">
                      <a16:colId xmlns:a16="http://schemas.microsoft.com/office/drawing/2014/main" val="789820161"/>
                    </a:ext>
                  </a:extLst>
                </a:gridCol>
                <a:gridCol w="413657">
                  <a:extLst>
                    <a:ext uri="{9D8B030D-6E8A-4147-A177-3AD203B41FA5}">
                      <a16:colId xmlns:a16="http://schemas.microsoft.com/office/drawing/2014/main" val="2547729838"/>
                    </a:ext>
                  </a:extLst>
                </a:gridCol>
                <a:gridCol w="413657">
                  <a:extLst>
                    <a:ext uri="{9D8B030D-6E8A-4147-A177-3AD203B41FA5}">
                      <a16:colId xmlns:a16="http://schemas.microsoft.com/office/drawing/2014/main" val="1361922462"/>
                    </a:ext>
                  </a:extLst>
                </a:gridCol>
                <a:gridCol w="413657">
                  <a:extLst>
                    <a:ext uri="{9D8B030D-6E8A-4147-A177-3AD203B41FA5}">
                      <a16:colId xmlns:a16="http://schemas.microsoft.com/office/drawing/2014/main" val="3142648990"/>
                    </a:ext>
                  </a:extLst>
                </a:gridCol>
                <a:gridCol w="413657">
                  <a:extLst>
                    <a:ext uri="{9D8B030D-6E8A-4147-A177-3AD203B41FA5}">
                      <a16:colId xmlns:a16="http://schemas.microsoft.com/office/drawing/2014/main" val="2465316786"/>
                    </a:ext>
                  </a:extLst>
                </a:gridCol>
                <a:gridCol w="413657">
                  <a:extLst>
                    <a:ext uri="{9D8B030D-6E8A-4147-A177-3AD203B41FA5}">
                      <a16:colId xmlns:a16="http://schemas.microsoft.com/office/drawing/2014/main" val="3367702043"/>
                    </a:ext>
                  </a:extLst>
                </a:gridCol>
              </a:tblGrid>
              <a:tr h="100716">
                <a:tc>
                  <a:txBody>
                    <a:bodyPr/>
                    <a:lstStyle/>
                    <a:p>
                      <a:r>
                        <a:rPr lang="pl-PL" sz="500"/>
                        <a:t>Zmienna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Średnia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Mediana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Zakres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Odch. std.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Asymetria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Wnioski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434552"/>
                  </a:ext>
                </a:extLst>
              </a:tr>
              <a:tr h="251791">
                <a:tc>
                  <a:txBody>
                    <a:bodyPr/>
                    <a:lstStyle/>
                    <a:p>
                      <a:r>
                        <a:rPr lang="pl-PL" sz="500" b="1"/>
                        <a:t>escs_trend</a:t>
                      </a:r>
                      <a:endParaRPr lang="pl-PL" sz="500"/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–0.40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–0.32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–9.86 → 4.70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1.13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–0.49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Umiark. zróżnic. Lewostronny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668686"/>
                  </a:ext>
                </a:extLst>
              </a:tr>
              <a:tr h="327329">
                <a:tc>
                  <a:txBody>
                    <a:bodyPr/>
                    <a:lstStyle/>
                    <a:p>
                      <a:r>
                        <a:rPr lang="pl-PL" sz="500" b="1"/>
                        <a:t>hisei_trend</a:t>
                      </a:r>
                      <a:endParaRPr lang="pl-PL" sz="500"/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49.4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50.37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 dirty="0"/>
                        <a:t>11 → 89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21.85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≈ 0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Duża zmienność Rozkład symetryczny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458134"/>
                  </a:ext>
                </a:extLst>
              </a:tr>
              <a:tr h="327329">
                <a:tc>
                  <a:txBody>
                    <a:bodyPr/>
                    <a:lstStyle/>
                    <a:p>
                      <a:r>
                        <a:rPr lang="pl-PL" sz="500" b="1"/>
                        <a:t>homepos_trend</a:t>
                      </a:r>
                      <a:endParaRPr lang="pl-PL" sz="500"/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0.11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 dirty="0"/>
                        <a:t>0.15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–6.80 → 3.65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0.59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–0.22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Niskie zróżnic. Lekko lewostronny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76322"/>
                  </a:ext>
                </a:extLst>
              </a:tr>
              <a:tr h="251791">
                <a:tc>
                  <a:txBody>
                    <a:bodyPr/>
                    <a:lstStyle/>
                    <a:p>
                      <a:r>
                        <a:rPr lang="pl-PL" sz="500" b="1"/>
                        <a:t>paredint_trend</a:t>
                      </a:r>
                      <a:endParaRPr lang="pl-PL" sz="500"/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13.24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14.5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3 → 16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2.99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/>
                        <a:t>–1.18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500" dirty="0"/>
                        <a:t>Wysoka różnorodność Lewostronny</a:t>
                      </a:r>
                    </a:p>
                  </a:txBody>
                  <a:tcPr marL="25179" marR="25179" marT="12590" marB="125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3865"/>
                  </a:ext>
                </a:extLst>
              </a:tr>
            </a:tbl>
          </a:graphicData>
        </a:graphic>
      </p:graphicFrame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30CB629B-AF31-991D-847C-FD9F2967DE1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0" y="1800794"/>
            <a:ext cx="2882475" cy="823912"/>
          </a:xfrm>
        </p:spPr>
        <p:txBody>
          <a:bodyPr/>
          <a:lstStyle/>
          <a:p>
            <a:pPr algn="ctr"/>
            <a:r>
              <a:rPr lang="pl-PL" dirty="0"/>
              <a:t>Wizualizacja rozkładów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3FCD02AD-7BB9-8F05-AC14-7BED0D16147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Symbol zastępczy daty 18">
            <a:extLst>
              <a:ext uri="{FF2B5EF4-FFF2-40B4-BE49-F238E27FC236}">
                <a16:creationId xmlns:a16="http://schemas.microsoft.com/office/drawing/2014/main" id="{FF345245-C2A1-5ECF-5A74-3B1B8096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Symbol zastępczy stopki 19">
            <a:extLst>
              <a:ext uri="{FF2B5EF4-FFF2-40B4-BE49-F238E27FC236}">
                <a16:creationId xmlns:a16="http://schemas.microsoft.com/office/drawing/2014/main" id="{F43C1B1D-9BE8-C054-A62F-D5C4205A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1" name="Symbol zastępczy numeru slajdu 20">
            <a:extLst>
              <a:ext uri="{FF2B5EF4-FFF2-40B4-BE49-F238E27FC236}">
                <a16:creationId xmlns:a16="http://schemas.microsoft.com/office/drawing/2014/main" id="{378F93F5-941E-4408-FCAF-6997CBC7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7</a:t>
            </a:fld>
            <a:endParaRPr lang="en-US" dirty="0"/>
          </a:p>
        </p:txBody>
      </p:sp>
      <p:sp>
        <p:nvSpPr>
          <p:cNvPr id="31" name="Tytuł 1">
            <a:extLst>
              <a:ext uri="{FF2B5EF4-FFF2-40B4-BE49-F238E27FC236}">
                <a16:creationId xmlns:a16="http://schemas.microsoft.com/office/drawing/2014/main" id="{03181BBB-C593-3529-FD0C-C364CAA121F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7173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Wstępna analiza danych</a:t>
            </a:r>
          </a:p>
        </p:txBody>
      </p:sp>
      <p:pic>
        <p:nvPicPr>
          <p:cNvPr id="13" name="Symbol zastępczy zawartości 12">
            <a:extLst>
              <a:ext uri="{FF2B5EF4-FFF2-40B4-BE49-F238E27FC236}">
                <a16:creationId xmlns:a16="http://schemas.microsoft.com/office/drawing/2014/main" id="{3C2CFA44-FA16-A37D-DF93-EA922A2713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1243225" y="2695509"/>
            <a:ext cx="2882900" cy="181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BB71930A-6C6F-1A65-8D48-76AD571A7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04" y="4653788"/>
            <a:ext cx="2882475" cy="110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74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1">
            <a:extLst>
              <a:ext uri="{FF2B5EF4-FFF2-40B4-BE49-F238E27FC236}">
                <a16:creationId xmlns:a16="http://schemas.microsoft.com/office/drawing/2014/main" id="{62FD6AAA-C49F-700D-9596-C6159D1B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3" name="Symbol zastępczy tekstu 22">
            <a:extLst>
              <a:ext uri="{FF2B5EF4-FFF2-40B4-BE49-F238E27FC236}">
                <a16:creationId xmlns:a16="http://schemas.microsoft.com/office/drawing/2014/main" id="{1A541B74-BD4B-D94D-A744-28DF1A8FF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4" name="Symbol zastępczy tekstu 23">
            <a:extLst>
              <a:ext uri="{FF2B5EF4-FFF2-40B4-BE49-F238E27FC236}">
                <a16:creationId xmlns:a16="http://schemas.microsoft.com/office/drawing/2014/main" id="{A4EBFA71-0D83-F1DE-2DA8-F5BC68E9E6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5" name="Symbol zastępczy tekstu 24">
            <a:extLst>
              <a:ext uri="{FF2B5EF4-FFF2-40B4-BE49-F238E27FC236}">
                <a16:creationId xmlns:a16="http://schemas.microsoft.com/office/drawing/2014/main" id="{2774D1D8-9B9E-8437-410F-839F8159BA0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6" name="Symbol zastępczy tekstu 25">
            <a:extLst>
              <a:ext uri="{FF2B5EF4-FFF2-40B4-BE49-F238E27FC236}">
                <a16:creationId xmlns:a16="http://schemas.microsoft.com/office/drawing/2014/main" id="{83075946-26AD-0B0E-C961-F3788B4248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7" name="Symbol zastępczy tekstu 26">
            <a:extLst>
              <a:ext uri="{FF2B5EF4-FFF2-40B4-BE49-F238E27FC236}">
                <a16:creationId xmlns:a16="http://schemas.microsoft.com/office/drawing/2014/main" id="{1CB4171B-EEFA-9E34-3D4C-EA05BDC950F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8" name="Symbol zastępczy tekstu 27">
            <a:extLst>
              <a:ext uri="{FF2B5EF4-FFF2-40B4-BE49-F238E27FC236}">
                <a16:creationId xmlns:a16="http://schemas.microsoft.com/office/drawing/2014/main" id="{81EE6276-892A-F5E8-1285-FC8C2FF39A9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9" name="Symbol zastępczy tekstu 28">
            <a:extLst>
              <a:ext uri="{FF2B5EF4-FFF2-40B4-BE49-F238E27FC236}">
                <a16:creationId xmlns:a16="http://schemas.microsoft.com/office/drawing/2014/main" id="{652E06B8-7AAD-EE2D-6478-C43F05DA347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30" name="Symbol zastępczy tekstu 29">
            <a:extLst>
              <a:ext uri="{FF2B5EF4-FFF2-40B4-BE49-F238E27FC236}">
                <a16:creationId xmlns:a16="http://schemas.microsoft.com/office/drawing/2014/main" id="{0BB67E6B-9A94-C097-3ACF-851310729A5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Symbol zastępczy daty 18">
            <a:extLst>
              <a:ext uri="{FF2B5EF4-FFF2-40B4-BE49-F238E27FC236}">
                <a16:creationId xmlns:a16="http://schemas.microsoft.com/office/drawing/2014/main" id="{324C0D5E-3972-4F91-BA56-DDAA9B7F0C7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Symbol zastępczy stopki 19">
            <a:extLst>
              <a:ext uri="{FF2B5EF4-FFF2-40B4-BE49-F238E27FC236}">
                <a16:creationId xmlns:a16="http://schemas.microsoft.com/office/drawing/2014/main" id="{791189F8-910A-5627-D986-D1665918E0A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1" name="Symbol zastępczy numeru slajdu 20">
            <a:extLst>
              <a:ext uri="{FF2B5EF4-FFF2-40B4-BE49-F238E27FC236}">
                <a16:creationId xmlns:a16="http://schemas.microsoft.com/office/drawing/2014/main" id="{FF0A7DEB-9A4D-4874-3B72-CDA75B0229A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8</a:t>
            </a:fld>
            <a:endParaRPr lang="en-US" dirty="0"/>
          </a:p>
        </p:txBody>
      </p:sp>
      <p:sp>
        <p:nvSpPr>
          <p:cNvPr id="31" name="Tytuł 1">
            <a:extLst>
              <a:ext uri="{FF2B5EF4-FFF2-40B4-BE49-F238E27FC236}">
                <a16:creationId xmlns:a16="http://schemas.microsoft.com/office/drawing/2014/main" id="{BC508DF3-9692-CA8D-E881-28EFDB154BC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073898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Eksploracyjna analiza danych przestrzennych (ESDA)</a:t>
            </a:r>
          </a:p>
        </p:txBody>
      </p:sp>
    </p:spTree>
    <p:extLst>
      <p:ext uri="{BB962C8B-B14F-4D97-AF65-F5344CB8AC3E}">
        <p14:creationId xmlns:p14="http://schemas.microsoft.com/office/powerpoint/2010/main" val="3253086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0CEA2E-5B3C-69D0-5154-8B1CEA7C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3C86FD-7C2D-86B8-A098-529D44497AF3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FD69D84-F711-3C3A-E7DF-E4DF3B757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9C1250F-F722-913F-9454-8C4852A668BB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19F6E76-153C-B5F2-A492-4F681C346C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1FA3432B-8155-F4B2-3D5A-E59A8A33DBF8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5CA3D4CB-F207-64C4-6AFB-06C4230B1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F4CF0869-5F55-1483-5DAF-EFC3CF9A09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ymbol zastępczy zawartości 9">
            <a:extLst>
              <a:ext uri="{FF2B5EF4-FFF2-40B4-BE49-F238E27FC236}">
                <a16:creationId xmlns:a16="http://schemas.microsoft.com/office/drawing/2014/main" id="{9E4E1808-1D0B-4560-D9BA-81410A77EDF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BE5C391B-C4DF-07DE-7FE2-3972330D7BF4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Symbol zastępczy tekstu 11">
            <a:extLst>
              <a:ext uri="{FF2B5EF4-FFF2-40B4-BE49-F238E27FC236}">
                <a16:creationId xmlns:a16="http://schemas.microsoft.com/office/drawing/2014/main" id="{FD8D1485-2EEB-F3D8-EEC8-9EE750FDF5B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4841F218-47D8-122B-4F42-FEC8C623DE59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Symbol zastępczy zawartości 13">
            <a:extLst>
              <a:ext uri="{FF2B5EF4-FFF2-40B4-BE49-F238E27FC236}">
                <a16:creationId xmlns:a16="http://schemas.microsoft.com/office/drawing/2014/main" id="{401909AE-15D8-C84D-7408-F4B8E7DE9BD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Symbol zastępczy zawartości 14">
            <a:extLst>
              <a:ext uri="{FF2B5EF4-FFF2-40B4-BE49-F238E27FC236}">
                <a16:creationId xmlns:a16="http://schemas.microsoft.com/office/drawing/2014/main" id="{B720D817-1229-C7D7-2AB2-C9E2A84EFE15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9E84DA9A-E396-DD4E-9051-002B02B5354E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Symbol zastępczy tekstu 16">
            <a:extLst>
              <a:ext uri="{FF2B5EF4-FFF2-40B4-BE49-F238E27FC236}">
                <a16:creationId xmlns:a16="http://schemas.microsoft.com/office/drawing/2014/main" id="{221379BB-FFF0-7206-64FC-42F132478090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Symbol zastępczy zawartości 17">
            <a:extLst>
              <a:ext uri="{FF2B5EF4-FFF2-40B4-BE49-F238E27FC236}">
                <a16:creationId xmlns:a16="http://schemas.microsoft.com/office/drawing/2014/main" id="{9F74F657-F5D8-A5F1-8E21-117F5B50829C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Symbol zastępczy daty 18">
            <a:extLst>
              <a:ext uri="{FF2B5EF4-FFF2-40B4-BE49-F238E27FC236}">
                <a16:creationId xmlns:a16="http://schemas.microsoft.com/office/drawing/2014/main" id="{3E6ED346-D7F2-F419-D39C-34D5373F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Symbol zastępczy stopki 19">
            <a:extLst>
              <a:ext uri="{FF2B5EF4-FFF2-40B4-BE49-F238E27FC236}">
                <a16:creationId xmlns:a16="http://schemas.microsoft.com/office/drawing/2014/main" id="{201EBE2B-CA0C-5714-EAD9-F3AF40FC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1" name="Symbol zastępczy numeru slajdu 20">
            <a:extLst>
              <a:ext uri="{FF2B5EF4-FFF2-40B4-BE49-F238E27FC236}">
                <a16:creationId xmlns:a16="http://schemas.microsoft.com/office/drawing/2014/main" id="{2196B922-9977-B694-3D8D-0150119A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9</a:t>
            </a:fld>
            <a:endParaRPr lang="en-US" dirty="0"/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41EFD9BF-9A94-5BF1-B0D2-02D3758897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021092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Modelowanie ekonometryczne</a:t>
            </a:r>
          </a:p>
        </p:txBody>
      </p:sp>
    </p:spTree>
    <p:extLst>
      <p:ext uri="{BB962C8B-B14F-4D97-AF65-F5344CB8AC3E}">
        <p14:creationId xmlns:p14="http://schemas.microsoft.com/office/powerpoint/2010/main" val="179626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1069E3-5FD7-D25D-2627-CAD34B52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DC792F5-F121-6745-D43F-9585FF4AD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D1506E9-B0C5-AEA2-E7F0-541A2E0AC8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702E64C-42D2-23AF-C7AF-B2277309DE6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B7D463F8-2041-AADE-4594-E4179446AF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5325632-60BB-3432-F8D0-4BE082C25B9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44AC8FAE-F7CD-8B6D-F051-2671B69EEF3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B2AF51AD-ACF8-759A-4A6B-71B62EDD4A7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4669F411-4D9E-1196-33E0-3146D262B7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Symbol zastępczy daty 10">
            <a:extLst>
              <a:ext uri="{FF2B5EF4-FFF2-40B4-BE49-F238E27FC236}">
                <a16:creationId xmlns:a16="http://schemas.microsoft.com/office/drawing/2014/main" id="{2C55FF47-F7F5-7C48-99FE-8CCB026CC6E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ymbol zastępczy stopki 11">
            <a:extLst>
              <a:ext uri="{FF2B5EF4-FFF2-40B4-BE49-F238E27FC236}">
                <a16:creationId xmlns:a16="http://schemas.microsoft.com/office/drawing/2014/main" id="{FB25B3F3-F45E-A1F8-4F6D-521C939E651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13" name="Symbol zastępczy numeru slajdu 12">
            <a:extLst>
              <a:ext uri="{FF2B5EF4-FFF2-40B4-BE49-F238E27FC236}">
                <a16:creationId xmlns:a16="http://schemas.microsoft.com/office/drawing/2014/main" id="{C20D8ACF-9A04-4A0D-CDC7-55832DA7140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ytuł 1">
            <a:extLst>
              <a:ext uri="{FF2B5EF4-FFF2-40B4-BE49-F238E27FC236}">
                <a16:creationId xmlns:a16="http://schemas.microsoft.com/office/drawing/2014/main" id="{853DA53A-4C9B-7A9B-0EBB-82421687FC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983424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Ocena modelu</a:t>
            </a:r>
          </a:p>
        </p:txBody>
      </p:sp>
    </p:spTree>
    <p:extLst>
      <p:ext uri="{BB962C8B-B14F-4D97-AF65-F5344CB8AC3E}">
        <p14:creationId xmlns:p14="http://schemas.microsoft.com/office/powerpoint/2010/main" val="4292961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ytuł 22">
            <a:extLst>
              <a:ext uri="{FF2B5EF4-FFF2-40B4-BE49-F238E27FC236}">
                <a16:creationId xmlns:a16="http://schemas.microsoft.com/office/drawing/2014/main" id="{46BB79A7-EEEF-E4E4-1CB3-6228A2B5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4" name="Symbol zastępczy tekstu 23">
            <a:extLst>
              <a:ext uri="{FF2B5EF4-FFF2-40B4-BE49-F238E27FC236}">
                <a16:creationId xmlns:a16="http://schemas.microsoft.com/office/drawing/2014/main" id="{17325F87-6403-051B-6F87-71580BBBC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5" name="Symbol zastępczy tekstu 24">
            <a:extLst>
              <a:ext uri="{FF2B5EF4-FFF2-40B4-BE49-F238E27FC236}">
                <a16:creationId xmlns:a16="http://schemas.microsoft.com/office/drawing/2014/main" id="{8FC968B7-0A6F-8DEC-DBA7-08128A9C71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6" name="Symbol zastępczy tekstu 25">
            <a:extLst>
              <a:ext uri="{FF2B5EF4-FFF2-40B4-BE49-F238E27FC236}">
                <a16:creationId xmlns:a16="http://schemas.microsoft.com/office/drawing/2014/main" id="{A5602570-A6E6-1D5B-9DD0-699533E248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7" name="Symbol zastępczy tekstu 26">
            <a:extLst>
              <a:ext uri="{FF2B5EF4-FFF2-40B4-BE49-F238E27FC236}">
                <a16:creationId xmlns:a16="http://schemas.microsoft.com/office/drawing/2014/main" id="{CB285281-DF4B-E677-23E6-6CE24D4C04C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8" name="Symbol zastępczy tekstu 27">
            <a:extLst>
              <a:ext uri="{FF2B5EF4-FFF2-40B4-BE49-F238E27FC236}">
                <a16:creationId xmlns:a16="http://schemas.microsoft.com/office/drawing/2014/main" id="{0CDA83E5-8C41-A161-2B84-C244CD0EA85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9" name="Symbol zastępczy tekstu 28">
            <a:extLst>
              <a:ext uri="{FF2B5EF4-FFF2-40B4-BE49-F238E27FC236}">
                <a16:creationId xmlns:a16="http://schemas.microsoft.com/office/drawing/2014/main" id="{40627FE7-C5F8-DC1A-4ED7-B10ED15382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0" name="Symbol zastępczy tekstu 29">
            <a:extLst>
              <a:ext uri="{FF2B5EF4-FFF2-40B4-BE49-F238E27FC236}">
                <a16:creationId xmlns:a16="http://schemas.microsoft.com/office/drawing/2014/main" id="{2302F316-2F5D-8C54-4FD2-F13D3BAC148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31" name="Symbol zastępczy tekstu 30">
            <a:extLst>
              <a:ext uri="{FF2B5EF4-FFF2-40B4-BE49-F238E27FC236}">
                <a16:creationId xmlns:a16="http://schemas.microsoft.com/office/drawing/2014/main" id="{993FC718-34E8-E9C1-FA0A-1612416C48F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Symbol zastępczy daty 18">
            <a:extLst>
              <a:ext uri="{FF2B5EF4-FFF2-40B4-BE49-F238E27FC236}">
                <a16:creationId xmlns:a16="http://schemas.microsoft.com/office/drawing/2014/main" id="{8A9D81EF-88C8-93D8-44E7-BCC32C820CA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Symbol zastępczy stopki 19">
            <a:extLst>
              <a:ext uri="{FF2B5EF4-FFF2-40B4-BE49-F238E27FC236}">
                <a16:creationId xmlns:a16="http://schemas.microsoft.com/office/drawing/2014/main" id="{2281BACA-9B47-150A-4AF2-DE26169A10D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1" name="Symbol zastępczy numeru slajdu 20">
            <a:extLst>
              <a:ext uri="{FF2B5EF4-FFF2-40B4-BE49-F238E27FC236}">
                <a16:creationId xmlns:a16="http://schemas.microsoft.com/office/drawing/2014/main" id="{C94F938C-AC86-93C2-B70A-B0666D7421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 dirty="0"/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81C0FCFC-7FF8-E340-26F0-E43EE71B3A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757980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Wnioski i rekomendacje</a:t>
            </a:r>
          </a:p>
        </p:txBody>
      </p:sp>
    </p:spTree>
    <p:extLst>
      <p:ext uri="{BB962C8B-B14F-4D97-AF65-F5344CB8AC3E}">
        <p14:creationId xmlns:p14="http://schemas.microsoft.com/office/powerpoint/2010/main" val="80293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1">
            <a:extLst>
              <a:ext uri="{FF2B5EF4-FFF2-40B4-BE49-F238E27FC236}">
                <a16:creationId xmlns:a16="http://schemas.microsoft.com/office/drawing/2014/main" id="{2BF622D7-1B0D-EC6E-50AF-8DB74FBE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3" name="Symbol zastępczy tekstu 22">
            <a:extLst>
              <a:ext uri="{FF2B5EF4-FFF2-40B4-BE49-F238E27FC236}">
                <a16:creationId xmlns:a16="http://schemas.microsoft.com/office/drawing/2014/main" id="{5041D94D-F993-82C1-1919-B54C23423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4" name="Symbol zastępczy tekstu 23">
            <a:extLst>
              <a:ext uri="{FF2B5EF4-FFF2-40B4-BE49-F238E27FC236}">
                <a16:creationId xmlns:a16="http://schemas.microsoft.com/office/drawing/2014/main" id="{36EE3257-F76D-C3B2-C72C-5BFE2CD6C6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5" name="Symbol zastępczy tekstu 24">
            <a:extLst>
              <a:ext uri="{FF2B5EF4-FFF2-40B4-BE49-F238E27FC236}">
                <a16:creationId xmlns:a16="http://schemas.microsoft.com/office/drawing/2014/main" id="{A824FE45-81C1-38B1-C32D-AFAB6D59FA2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6" name="Symbol zastępczy tekstu 25">
            <a:extLst>
              <a:ext uri="{FF2B5EF4-FFF2-40B4-BE49-F238E27FC236}">
                <a16:creationId xmlns:a16="http://schemas.microsoft.com/office/drawing/2014/main" id="{30384EDC-7C79-CF0A-380D-7DE3656E02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7" name="Symbol zastępczy tekstu 26">
            <a:extLst>
              <a:ext uri="{FF2B5EF4-FFF2-40B4-BE49-F238E27FC236}">
                <a16:creationId xmlns:a16="http://schemas.microsoft.com/office/drawing/2014/main" id="{39650150-83EC-B647-E526-016BCD2466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28" name="Symbol zastępczy tekstu 27">
            <a:extLst>
              <a:ext uri="{FF2B5EF4-FFF2-40B4-BE49-F238E27FC236}">
                <a16:creationId xmlns:a16="http://schemas.microsoft.com/office/drawing/2014/main" id="{E93942B7-5596-8D39-5DC8-B672B341CC8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9" name="Symbol zastępczy tekstu 28">
            <a:extLst>
              <a:ext uri="{FF2B5EF4-FFF2-40B4-BE49-F238E27FC236}">
                <a16:creationId xmlns:a16="http://schemas.microsoft.com/office/drawing/2014/main" id="{339ADE65-525C-D22E-6BFD-D6758DF597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endParaRPr lang="pl-PL"/>
          </a:p>
        </p:txBody>
      </p:sp>
      <p:sp>
        <p:nvSpPr>
          <p:cNvPr id="30" name="Symbol zastępczy tekstu 29">
            <a:extLst>
              <a:ext uri="{FF2B5EF4-FFF2-40B4-BE49-F238E27FC236}">
                <a16:creationId xmlns:a16="http://schemas.microsoft.com/office/drawing/2014/main" id="{B474865A-E658-823D-D33D-D88D75BA70C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Symbol zastępczy daty 18">
            <a:extLst>
              <a:ext uri="{FF2B5EF4-FFF2-40B4-BE49-F238E27FC236}">
                <a16:creationId xmlns:a16="http://schemas.microsoft.com/office/drawing/2014/main" id="{00B722EF-9E38-A1A2-A947-D19CB196AC4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Symbol zastępczy stopki 19">
            <a:extLst>
              <a:ext uri="{FF2B5EF4-FFF2-40B4-BE49-F238E27FC236}">
                <a16:creationId xmlns:a16="http://schemas.microsoft.com/office/drawing/2014/main" id="{B9CF5F66-E51B-C3D8-01EB-524BD9B56E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1" name="Symbol zastępczy numeru slajdu 20">
            <a:extLst>
              <a:ext uri="{FF2B5EF4-FFF2-40B4-BE49-F238E27FC236}">
                <a16:creationId xmlns:a16="http://schemas.microsoft.com/office/drawing/2014/main" id="{C5B2DD92-258B-7AB1-573C-2C81DD5B8F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12</a:t>
            </a:fld>
            <a:endParaRPr lang="en-US" dirty="0"/>
          </a:p>
        </p:txBody>
      </p:sp>
      <p:sp>
        <p:nvSpPr>
          <p:cNvPr id="31" name="Tytuł 1">
            <a:extLst>
              <a:ext uri="{FF2B5EF4-FFF2-40B4-BE49-F238E27FC236}">
                <a16:creationId xmlns:a16="http://schemas.microsoft.com/office/drawing/2014/main" id="{47ECEB6E-ACC4-1FD3-D850-C3E6C91B2C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757980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Zakończenie i pytania</a:t>
            </a:r>
          </a:p>
        </p:txBody>
      </p:sp>
    </p:spTree>
    <p:extLst>
      <p:ext uri="{BB962C8B-B14F-4D97-AF65-F5344CB8AC3E}">
        <p14:creationId xmlns:p14="http://schemas.microsoft.com/office/powerpoint/2010/main" val="3009089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075447" y="2370670"/>
            <a:ext cx="1856232" cy="1664208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pl-PL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Zaprojektowanie prezentacji w </a:t>
            </a:r>
            <a:r>
              <a:rPr lang="pl-PL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powerpoint</a:t>
            </a:r>
            <a:r>
              <a:rPr lang="pl-PL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- dodanie punktu 2,3,4,5 (podpunkt </a:t>
            </a:r>
            <a:r>
              <a:rPr lang="pl-PL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a,b</a:t>
            </a:r>
            <a:r>
              <a:rPr lang="pl-PL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pl-PL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—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2754FA1-2477-8F27-DF3F-88ACDF9CD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88813"/>
            <a:ext cx="2330726" cy="804859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08A1C6A-582D-9D79-7DF5-BBD59C5BAAE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4464810"/>
            <a:ext cx="2330726" cy="438505"/>
          </a:xfrm>
        </p:spPr>
        <p:txBody>
          <a:bodyPr/>
          <a:lstStyle/>
          <a:p>
            <a:endParaRPr lang="en-US"/>
          </a:p>
        </p:txBody>
      </p:sp>
      <p:pic>
        <p:nvPicPr>
          <p:cNvPr id="18" name="Content Placeholder 17" descr="A graph with purple bars&#10;&#10;AI-generated content may be incorrect.">
            <a:extLst>
              <a:ext uri="{FF2B5EF4-FFF2-40B4-BE49-F238E27FC236}">
                <a16:creationId xmlns:a16="http://schemas.microsoft.com/office/drawing/2014/main" id="{5C5B3E88-8731-C354-E01A-3BB4C000CF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91948" y="1279261"/>
            <a:ext cx="6966744" cy="4299477"/>
          </a:xfr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B760F808-66FB-978B-4D46-B1577C7D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0" name="Date Placeholder 2">
            <a:extLst>
              <a:ext uri="{FF2B5EF4-FFF2-40B4-BE49-F238E27FC236}">
                <a16:creationId xmlns:a16="http://schemas.microsoft.com/office/drawing/2014/main" id="{F4D7F34E-2490-B3E8-A966-EDA839C1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42" name="Footer Placeholder 3">
            <a:extLst>
              <a:ext uri="{FF2B5EF4-FFF2-40B4-BE49-F238E27FC236}">
                <a16:creationId xmlns:a16="http://schemas.microsoft.com/office/drawing/2014/main" id="{A4B30FAC-294E-BBBB-DD79-6755AB3E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Pitch Deck</a:t>
            </a:r>
          </a:p>
        </p:txBody>
      </p:sp>
      <p:sp>
        <p:nvSpPr>
          <p:cNvPr id="44" name="Slide Number Placeholder 4">
            <a:extLst>
              <a:ext uri="{FF2B5EF4-FFF2-40B4-BE49-F238E27FC236}">
                <a16:creationId xmlns:a16="http://schemas.microsoft.com/office/drawing/2014/main" id="{4022D23E-BC35-48FD-6898-DF0D95BA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B4829F9-0287-96A0-B485-056047E1F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554" y="2029771"/>
            <a:ext cx="7471602" cy="36972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0257-6F02-E9F4-D324-F5E02915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C2B9-5A90-D5E6-D3CA-DCCEB241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804769-2034-9871-CBBC-2E0BEA7D6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925" y="284833"/>
            <a:ext cx="3296110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79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A64B-EF3E-D26B-B5D1-62492E41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B56B-6D1C-819E-54FB-24DC38B2F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6AB96-BFD8-904E-3B0D-A91A474D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713" y="303885"/>
            <a:ext cx="3496163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83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B4B6-EA0F-600C-C966-18DAEBBF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86CC-BCAF-63E2-4473-3A88B29C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C1879-D189-DFA8-D942-4928BEA0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160" y="1154612"/>
            <a:ext cx="7708318" cy="248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0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C971-BB57-606A-92DA-F29331AC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0F5B-CCC3-A940-6D81-F98B6477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00D5C-8E1B-3848-BBCA-909AF0A66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943582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03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ABSTRACT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/>
          <a:p>
            <a:r>
              <a:rPr lang="en-US" noProof="1"/>
              <a:t>We based our research on market trends and social media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DESIGN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/>
          <a:p>
            <a:r>
              <a:rPr lang="en-US" noProof="1"/>
              <a:t>We believe people need more products specifically dedicated to this niche market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1"/>
              <a:t>RESEARCH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/>
          <a:p>
            <a:r>
              <a:rPr lang="en-US" noProof="1"/>
              <a:t>Minimalist and easy to use 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/>
          <a:lstStyle/>
          <a:p>
            <a:r>
              <a:rPr lang="en-US" dirty="0"/>
              <a:t>$3 Billion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/>
              <a:t>Freedom to invent</a:t>
            </a:r>
            <a:endParaRPr lang="en-US" dirty="0"/>
          </a:p>
          <a:p>
            <a:r>
              <a:rPr lang="en-US" noProof="1"/>
              <a:t>Selectively inclusive market</a:t>
            </a:r>
          </a:p>
          <a:p>
            <a:r>
              <a:rPr lang="en-US" noProof="1"/>
              <a:t>Serviceable available market</a:t>
            </a:r>
          </a:p>
          <a:p>
            <a:endParaRPr lang="en-US" noProof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/>
          <a:lstStyle/>
          <a:p>
            <a:r>
              <a:rPr lang="en-US" dirty="0"/>
              <a:t>$1 Billion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/>
          <a:lstStyle/>
          <a:p>
            <a:r>
              <a:rPr lang="en-US" dirty="0"/>
              <a:t>Opportunity to build</a:t>
            </a:r>
          </a:p>
          <a:p>
            <a:r>
              <a:rPr lang="en-US" dirty="0"/>
              <a:t>Fully inclusive market</a:t>
            </a:r>
          </a:p>
          <a:p>
            <a:r>
              <a:rPr lang="en-US" dirty="0"/>
              <a:t>Total addressable market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$2 Billion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/>
          <a:lstStyle/>
          <a:p>
            <a:r>
              <a:rPr lang="en-US" noProof="1"/>
              <a:t>Few competitors</a:t>
            </a:r>
          </a:p>
          <a:p>
            <a:r>
              <a:rPr lang="en-US" noProof="1"/>
              <a:t>Specifically targeted market</a:t>
            </a:r>
          </a:p>
          <a:p>
            <a:r>
              <a:rPr lang="en-US" noProof="1"/>
              <a:t>Serviceable obtainable market</a:t>
            </a:r>
            <a:endParaRPr lang="en-US" dirty="0"/>
          </a:p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077F2-35DE-27ED-C02A-776198D6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AFEB-AA76-7795-67B5-04E5FB909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C35952F-344A-6C2B-4C63-E34FC1B0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D47DA4-4A09-E002-FECB-627833A1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31C1F77-DF98-5CF3-F9F5-74866C96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5F7E40-C75D-679D-48D6-EACF12AE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612" y="1744018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94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33BDD-13F6-4A4A-26C3-E4912C8D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A251-AA4D-27A7-4523-DC608444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9A1F978-B17D-C499-753E-6282D96A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307E726-42F1-15BC-6A69-75F0E9B8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25A6E9-C566-DFDB-FFF6-409AC225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CA9583-E5EB-7319-E8A2-71DA16A75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336" y="1554958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18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1387-72B4-6F39-DDFC-ECD5A9A3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B07D-9333-708F-1F7A-727CDE33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ADDFED2-325D-2329-C6F8-73E2CEEE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0F688B-233E-7DC1-4E78-D16884B0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355EE5A-4C75-2C19-C72D-99A4DCCE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92026-43A5-61F3-EE10-1BC3258D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071" y="1554958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95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1D12-99F8-7005-CC9D-01A30E6A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62DF-9465-9C5C-2C13-E1D5563F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F8B754-F530-EEB0-0B17-D5CB3692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AD3FB4-F6A1-FCEB-E06B-8336108D6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CFB05A8-5D40-4A34-4C7B-760D2D16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56246-7EFB-6C8A-9EBE-0A6714C30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1554958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48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D0CA1-9558-516C-84E7-02F7DD75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EAD9-B626-AEDD-DBDE-B20FE7B8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C0F5098-0C97-5C97-9DAE-7CE5A7A6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601BC9-6375-EB32-8E96-07778E16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9681B4-8134-13E6-60B0-C77D37A5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21A66-16DE-08CC-D6AF-6799EDD66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0" y="1467409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75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583AD-7849-6538-DC83-2B8632E7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CD39-90ED-B20C-71CB-6F1686648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246802C-D77B-6F8F-0CD9-F463832C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45D886D-7105-6328-682B-D6DFA7E88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659D58B-AD27-922F-AC29-A6834941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2868BE-EA00-A7AC-D612-A2BBC6849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1371600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34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781D-B092-3A0F-46B0-DF27F503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35AF-D207-6597-DCB3-C4572576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80EA6D-1244-92BA-337D-8C3C4EF5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3B1507-4B8C-957C-E627-101AC447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AE8E13-A47C-3E7A-F767-BAAF45CF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2990A-7CB5-59DF-F670-4765067BD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75" y="1554958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76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5218-5146-79A0-681F-78576DB8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52CA-6952-1A0A-BBB0-1DAC522F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4FA31FD-8498-DB1F-1E78-A65D48AD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044E3A9-D818-9454-F7F2-E6BF1381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F8F46C2-36F7-2B51-C1D8-EB50E70B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0AEA6-2192-F118-CDAE-6BB71193E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0" y="1554958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4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4708D-24CA-4D67-66DC-BEE28E25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7119-A7E3-AFBA-65C5-92596AC8A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2" y="229395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EF780F-E8A7-F88D-FF69-C4CF95B0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2939AFD-EB64-6BF9-02CA-9AB77234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FF8FAA6-EC22-4989-7A0E-50E6B3D1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B6090D-5772-99AD-5EFE-0541A85E4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554958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58255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421</TotalTime>
  <Words>665</Words>
  <Application>Microsoft Office PowerPoint</Application>
  <PresentationFormat>Panoramiczny</PresentationFormat>
  <Paragraphs>182</Paragraphs>
  <Slides>29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3" baseType="lpstr">
      <vt:lpstr>Arial</vt:lpstr>
      <vt:lpstr>Calibri</vt:lpstr>
      <vt:lpstr>Tenorite</vt:lpstr>
      <vt:lpstr>Monoline</vt:lpstr>
      <vt:lpstr>Ekonometria przestrzenna</vt:lpstr>
      <vt:lpstr>SPIS Treści</vt:lpstr>
      <vt:lpstr>Wprowadzenie</vt:lpstr>
      <vt:lpstr>Problem badawczy i pytania</vt:lpstr>
      <vt:lpstr>Wykorzystana literatura</vt:lpstr>
      <vt:lpstr>Źródła, zmienne i przestrzenna struktura danych pisa </vt:lpstr>
      <vt:lpstr>Opisowa charakterystyka danych pisa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PRODUCT OVERVIEW</vt:lpstr>
      <vt:lpstr>PRODUCT OVERVIEW</vt:lpstr>
      <vt:lpstr>PRODUCT OVERVIEW</vt:lpstr>
      <vt:lpstr>PRODUCT OVERVIEW</vt:lpstr>
      <vt:lpstr>BUSINESS MODEL</vt:lpstr>
      <vt:lpstr>MARKET OVERVIEW</vt:lpstr>
      <vt:lpstr>MARKET OVERVIEW</vt:lpstr>
      <vt:lpstr>MARKET OVERVIEW</vt:lpstr>
      <vt:lpstr>MARKET OVERVIEW</vt:lpstr>
      <vt:lpstr>MARKET OVERVIEW</vt:lpstr>
      <vt:lpstr>MARKET OVERVIEW</vt:lpstr>
      <vt:lpstr>MARKET OVERVIEW</vt:lpstr>
      <vt:lpstr>MARKET OVERVIEW</vt:lpstr>
      <vt:lpstr>MARKET OVERVIEW</vt:lpstr>
      <vt:lpstr>MARKET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Klaudia Woźniak</dc:creator>
  <cp:lastModifiedBy>Piotr Wiśniewski</cp:lastModifiedBy>
  <cp:revision>15</cp:revision>
  <dcterms:created xsi:type="dcterms:W3CDTF">2025-05-08T17:30:40Z</dcterms:created>
  <dcterms:modified xsi:type="dcterms:W3CDTF">2025-06-03T19:41:26Z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