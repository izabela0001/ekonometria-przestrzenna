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26"/>
  </p:notesMasterIdLst>
  <p:handoutMasterIdLst>
    <p:handoutMasterId r:id="rId27"/>
  </p:handoutMasterIdLst>
  <p:sldIdLst>
    <p:sldId id="256" r:id="rId5"/>
    <p:sldId id="309" r:id="rId6"/>
    <p:sldId id="310" r:id="rId7"/>
    <p:sldId id="311" r:id="rId8"/>
    <p:sldId id="277" r:id="rId9"/>
    <p:sldId id="261" r:id="rId10"/>
    <p:sldId id="295" r:id="rId11"/>
    <p:sldId id="296" r:id="rId12"/>
    <p:sldId id="298" r:id="rId13"/>
    <p:sldId id="299" r:id="rId14"/>
    <p:sldId id="278" r:id="rId15"/>
    <p:sldId id="266" r:id="rId16"/>
    <p:sldId id="300" r:id="rId17"/>
    <p:sldId id="301" r:id="rId18"/>
    <p:sldId id="302" r:id="rId19"/>
    <p:sldId id="303" r:id="rId20"/>
    <p:sldId id="304" r:id="rId21"/>
    <p:sldId id="305" r:id="rId22"/>
    <p:sldId id="306" r:id="rId23"/>
    <p:sldId id="307" r:id="rId24"/>
    <p:sldId id="30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09" autoAdjust="0"/>
  </p:normalViewPr>
  <p:slideViewPr>
    <p:cSldViewPr snapToGrid="0">
      <p:cViewPr varScale="1">
        <p:scale>
          <a:sx n="123" d="100"/>
          <a:sy n="123" d="100"/>
        </p:scale>
        <p:origin x="114" y="14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6/2/2025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8 Peo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82546"/>
            <a:ext cx="5111750" cy="152558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hyperlink" Target="https://unsplash.com/photos/aerial-photography-of-red-roof-houses-at-daytime-23OnNfLjY3I" TargetMode="Externa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96487" y="4023058"/>
            <a:ext cx="4941771" cy="1122202"/>
          </a:xfrm>
        </p:spPr>
        <p:txBody>
          <a:bodyPr/>
          <a:lstStyle/>
          <a:p>
            <a:r>
              <a:rPr lang="pl-PL" dirty="0"/>
              <a:t>Ekonometria przestrzenna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96488" y="6245568"/>
            <a:ext cx="4941770" cy="396660"/>
          </a:xfrm>
        </p:spPr>
        <p:txBody>
          <a:bodyPr/>
          <a:lstStyle/>
          <a:p>
            <a:r>
              <a:rPr lang="pl-PL" dirty="0"/>
              <a:t>Izabela Reszka, Piotr Wiśniewski, Klaudia Woźniak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3E9FF9-4110-D16C-751A-CDFD31684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38" y="5785220"/>
            <a:ext cx="4619625" cy="95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3CB978E5-08E7-C1B8-2C80-B95ED145A752}"/>
              </a:ext>
            </a:extLst>
          </p:cNvPr>
          <p:cNvSpPr txBox="1"/>
          <p:nvPr/>
        </p:nvSpPr>
        <p:spPr>
          <a:xfrm>
            <a:off x="6896487" y="3653726"/>
            <a:ext cx="3572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Analityka Gospodarcza II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DAA42544-65BA-4D44-5162-DD564A9F3B4F}"/>
              </a:ext>
            </a:extLst>
          </p:cNvPr>
          <p:cNvSpPr txBox="1"/>
          <p:nvPr/>
        </p:nvSpPr>
        <p:spPr>
          <a:xfrm>
            <a:off x="6896487" y="5233749"/>
            <a:ext cx="47579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>
                <a:solidFill>
                  <a:srgbClr val="00B050"/>
                </a:solidFill>
              </a:rPr>
              <a:t>Przestrzenne zróżnicowanie statusu społeczno-ekonomicznego uczniów w krajach uczestniczących w badaniu PISA (2012–2018)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ymbol zastępczy numeru slajdu 20">
            <a:extLst>
              <a:ext uri="{FF2B5EF4-FFF2-40B4-BE49-F238E27FC236}">
                <a16:creationId xmlns:a16="http://schemas.microsoft.com/office/drawing/2014/main" id="{FD889D46-A756-2FDB-235E-499F06252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2</a:t>
            </a:fld>
            <a:endParaRPr lang="en-US" dirty="0"/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C72EBD29-8475-2367-2F74-22D0AC2FEAF8}"/>
              </a:ext>
            </a:extLst>
          </p:cNvPr>
          <p:cNvSpPr txBox="1"/>
          <p:nvPr/>
        </p:nvSpPr>
        <p:spPr>
          <a:xfrm>
            <a:off x="542441" y="1704814"/>
            <a:ext cx="850082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pl-PL" dirty="0"/>
              <a:t>Wprowadzenie</a:t>
            </a:r>
          </a:p>
          <a:p>
            <a:pPr marL="342900" indent="-342900">
              <a:buAutoNum type="arabicPeriod"/>
            </a:pPr>
            <a:r>
              <a:rPr lang="pl-PL" dirty="0"/>
              <a:t>Problem badawczy i pytania</a:t>
            </a:r>
          </a:p>
          <a:p>
            <a:pPr marL="342900" indent="-342900">
              <a:buAutoNum type="arabicPeriod"/>
            </a:pPr>
            <a:r>
              <a:rPr lang="pl-PL" dirty="0"/>
              <a:t>Przegląd literatury</a:t>
            </a:r>
          </a:p>
          <a:p>
            <a:pPr marL="342900" indent="-342900">
              <a:buAutoNum type="arabicPeriod"/>
            </a:pPr>
            <a:r>
              <a:rPr lang="pl-PL" dirty="0"/>
              <a:t>Opis danych</a:t>
            </a:r>
          </a:p>
          <a:p>
            <a:pPr marL="342900" indent="-342900">
              <a:buAutoNum type="arabicPeriod"/>
            </a:pPr>
            <a:r>
              <a:rPr lang="pl-PL" dirty="0"/>
              <a:t>Wstępna analiza danych</a:t>
            </a:r>
          </a:p>
          <a:p>
            <a:pPr marL="342900" indent="-342900">
              <a:buAutoNum type="arabicPeriod"/>
            </a:pPr>
            <a:r>
              <a:rPr lang="pl-PL" dirty="0"/>
              <a:t>Eksploracyjna analiza danych przestrzennych (ESDA)</a:t>
            </a:r>
          </a:p>
          <a:p>
            <a:pPr marL="342900" indent="-342900">
              <a:buAutoNum type="arabicPeriod"/>
            </a:pPr>
            <a:r>
              <a:rPr lang="pl-PL" dirty="0"/>
              <a:t>Modelowanie ekonometryczne</a:t>
            </a:r>
          </a:p>
          <a:p>
            <a:pPr marL="342900" indent="-342900">
              <a:buAutoNum type="arabicPeriod"/>
            </a:pPr>
            <a:r>
              <a:rPr lang="pl-PL" dirty="0"/>
              <a:t>Ocena modelu</a:t>
            </a:r>
          </a:p>
          <a:p>
            <a:pPr marL="342900" indent="-342900">
              <a:buAutoNum type="arabicPeriod"/>
            </a:pPr>
            <a:r>
              <a:rPr lang="pl-PL" dirty="0"/>
              <a:t>Wnioski i rekomendacje</a:t>
            </a:r>
          </a:p>
          <a:p>
            <a:pPr marL="342900" indent="-342900">
              <a:buAutoNum type="arabicPeriod"/>
            </a:pPr>
            <a:r>
              <a:rPr lang="pl-PL" dirty="0"/>
              <a:t>Zakończenie i pytania</a:t>
            </a:r>
          </a:p>
        </p:txBody>
      </p:sp>
      <p:sp>
        <p:nvSpPr>
          <p:cNvPr id="23" name="Tytuł 1">
            <a:extLst>
              <a:ext uri="{FF2B5EF4-FFF2-40B4-BE49-F238E27FC236}">
                <a16:creationId xmlns:a16="http://schemas.microsoft.com/office/drawing/2014/main" id="{FD10A6CE-38D6-C94E-9065-2961D4582F0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006671" cy="666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Spis treści</a:t>
            </a:r>
          </a:p>
        </p:txBody>
      </p:sp>
    </p:spTree>
    <p:extLst>
      <p:ext uri="{BB962C8B-B14F-4D97-AF65-F5344CB8AC3E}">
        <p14:creationId xmlns:p14="http://schemas.microsoft.com/office/powerpoint/2010/main" val="367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45DEF56-BBFA-0120-CDDB-512C966DD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3006671" cy="666427"/>
          </a:xfrm>
        </p:spPr>
        <p:txBody>
          <a:bodyPr>
            <a:normAutofit/>
          </a:bodyPr>
          <a:lstStyle/>
          <a:p>
            <a:r>
              <a:rPr lang="pl-PL" sz="2500" dirty="0"/>
              <a:t>Wprowadzenie</a:t>
            </a: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65AFD9F2-2373-2C66-F53B-50D283F501CC}"/>
              </a:ext>
            </a:extLst>
          </p:cNvPr>
          <p:cNvSpPr txBox="1"/>
          <p:nvPr/>
        </p:nvSpPr>
        <p:spPr>
          <a:xfrm>
            <a:off x="123986" y="666427"/>
            <a:ext cx="11941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Analiza przestrzenna statusu społeczno-ekonomicznego uczniów w badaniach PISA (2012-2018)</a:t>
            </a: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9779D17E-FE90-2B9E-9660-AB5083B29584}"/>
              </a:ext>
            </a:extLst>
          </p:cNvPr>
          <p:cNvSpPr txBox="1"/>
          <p:nvPr/>
        </p:nvSpPr>
        <p:spPr>
          <a:xfrm>
            <a:off x="271219" y="1859339"/>
            <a:ext cx="571887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pl-PL" b="1" dirty="0"/>
              <a:t>Cel projektu: </a:t>
            </a:r>
            <a:r>
              <a:rPr lang="pl-PL" dirty="0"/>
              <a:t>Analiza przestrzennego zróżnicowania statusu społeczno-ekonomicznego uczniów na podstawie PISA z lat 2012-2018</a:t>
            </a:r>
          </a:p>
          <a:p>
            <a:pPr marL="285750" indent="-285750">
              <a:buFontTx/>
              <a:buChar char="-"/>
            </a:pPr>
            <a:endParaRPr lang="pl-PL" dirty="0"/>
          </a:p>
          <a:p>
            <a:pPr marL="285750" indent="-285750">
              <a:buFontTx/>
              <a:buChar char="-"/>
            </a:pPr>
            <a:r>
              <a:rPr lang="pl-PL" b="1" dirty="0"/>
              <a:t>Znaczenie tematu: </a:t>
            </a:r>
            <a:r>
              <a:rPr lang="pl-PL" dirty="0"/>
              <a:t>Rola edukacji jako czynnika wyrównania szans i narzędzia polityki społecznej, szczególnie w kontekście regionalnych dysproporcji</a:t>
            </a:r>
          </a:p>
          <a:p>
            <a:pPr marL="285750" indent="-285750">
              <a:buFontTx/>
              <a:buChar char="-"/>
            </a:pPr>
            <a:endParaRPr lang="pl-PL" dirty="0"/>
          </a:p>
          <a:p>
            <a:pPr marL="285750" indent="-285750">
              <a:buFontTx/>
              <a:buChar char="-"/>
            </a:pPr>
            <a:r>
              <a:rPr lang="pl-PL" b="1" dirty="0"/>
              <a:t>Podejście badawcze: </a:t>
            </a:r>
            <a:r>
              <a:rPr lang="pl-PL" dirty="0"/>
              <a:t>Zastosowanie metod ekonometrii przestrzennej do identyfikacji wzorców i zależności przestrzennych w danych edukacyjnych</a:t>
            </a:r>
          </a:p>
        </p:txBody>
      </p:sp>
      <p:pic>
        <p:nvPicPr>
          <p:cNvPr id="1026" name="Picture 2" descr="PISA">
            <a:extLst>
              <a:ext uri="{FF2B5EF4-FFF2-40B4-BE49-F238E27FC236}">
                <a16:creationId xmlns:a16="http://schemas.microsoft.com/office/drawing/2014/main" id="{607F2FEC-8D23-7D93-644F-A15C9D7E56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1907" y="2233550"/>
            <a:ext cx="5581070" cy="2376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pole tekstowe 23">
            <a:extLst>
              <a:ext uri="{FF2B5EF4-FFF2-40B4-BE49-F238E27FC236}">
                <a16:creationId xmlns:a16="http://schemas.microsoft.com/office/drawing/2014/main" id="{56148962-D495-452C-135E-DA78B8E6A19D}"/>
              </a:ext>
            </a:extLst>
          </p:cNvPr>
          <p:cNvSpPr txBox="1"/>
          <p:nvPr/>
        </p:nvSpPr>
        <p:spPr>
          <a:xfrm>
            <a:off x="7005234" y="4609865"/>
            <a:ext cx="477774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1200" dirty="0"/>
              <a:t>Logo – PISA: Program Międzynarodowej Oceny Umiejętności Uczniów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23487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1D9D8-4D6E-6300-B19C-70538B0E4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514BB88-A9C8-D67C-71DF-BDC724845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277173" cy="666427"/>
          </a:xfrm>
        </p:spPr>
        <p:txBody>
          <a:bodyPr>
            <a:normAutofit fontScale="90000"/>
          </a:bodyPr>
          <a:lstStyle/>
          <a:p>
            <a:r>
              <a:rPr lang="pl-PL" dirty="0"/>
              <a:t>Problem badawczy i pytania</a:t>
            </a: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7199EF15-8849-0FA8-E734-29822BB84781}"/>
              </a:ext>
            </a:extLst>
          </p:cNvPr>
          <p:cNvSpPr txBox="1"/>
          <p:nvPr/>
        </p:nvSpPr>
        <p:spPr>
          <a:xfrm>
            <a:off x="123986" y="666427"/>
            <a:ext cx="11941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Zróżnicowanie przestrzenne statusu społeczno-ekonomicznego uczniów</a:t>
            </a: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12DD4214-C1A6-C50B-916C-885C9E1928F7}"/>
              </a:ext>
            </a:extLst>
          </p:cNvPr>
          <p:cNvSpPr txBox="1"/>
          <p:nvPr/>
        </p:nvSpPr>
        <p:spPr>
          <a:xfrm>
            <a:off x="271219" y="1859339"/>
            <a:ext cx="57188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pl-PL" b="1" dirty="0"/>
              <a:t>Sformułowanie problemu: </a:t>
            </a:r>
            <a:r>
              <a:rPr lang="pl-PL" dirty="0"/>
              <a:t>czy istnieją regionalne wzorce w statusie społeczno-ekonomicznym uczniów? Jakie czynniki wpływają na te różnice?</a:t>
            </a:r>
          </a:p>
          <a:p>
            <a:pPr marL="285750" indent="-285750">
              <a:buFontTx/>
              <a:buChar char="-"/>
            </a:pPr>
            <a:endParaRPr lang="pl-PL" dirty="0"/>
          </a:p>
          <a:p>
            <a:pPr marL="285750" indent="-285750">
              <a:buFontTx/>
              <a:buChar char="-"/>
            </a:pPr>
            <a:r>
              <a:rPr lang="pl-PL" b="1" dirty="0"/>
              <a:t>Uzasadnienie wyboru: </a:t>
            </a:r>
            <a:r>
              <a:rPr lang="pl-PL" dirty="0"/>
              <a:t>Znaczące różnice w poziomie wyników edukacyjnych pomiędzy regionami sugerują wpływ czynników lokalnych</a:t>
            </a:r>
          </a:p>
          <a:p>
            <a:pPr marL="285750" indent="-285750">
              <a:buFontTx/>
              <a:buChar char="-"/>
            </a:pPr>
            <a:endParaRPr lang="pl-PL" dirty="0"/>
          </a:p>
          <a:p>
            <a:pPr marL="285750" indent="-285750">
              <a:buFontTx/>
              <a:buChar char="-"/>
            </a:pPr>
            <a:r>
              <a:rPr lang="pl-PL" b="1" dirty="0"/>
              <a:t>Poziom analizy przestrzennej: </a:t>
            </a:r>
            <a:r>
              <a:rPr lang="pl-PL" dirty="0"/>
              <a:t>Analiza przeprowadzona na poziomie krajowym z uwzględnieniem danych PISA oraz komponentu przestrzennego</a:t>
            </a: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EF75B657-1EFC-8AB8-EE72-2C875EEC6B09}"/>
              </a:ext>
            </a:extLst>
          </p:cNvPr>
          <p:cNvSpPr txBox="1"/>
          <p:nvPr/>
        </p:nvSpPr>
        <p:spPr>
          <a:xfrm>
            <a:off x="7005234" y="5600771"/>
            <a:ext cx="47777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1200" dirty="0">
                <a:hlinkClick r:id="rId2"/>
              </a:rPr>
              <a:t>John </a:t>
            </a:r>
            <a:r>
              <a:rPr lang="pl-PL" sz="1200" dirty="0" err="1">
                <a:hlinkClick r:id="rId2"/>
              </a:rPr>
              <a:t>Cobb</a:t>
            </a:r>
            <a:r>
              <a:rPr lang="pl-PL" sz="1200" dirty="0">
                <a:hlinkClick r:id="rId2"/>
              </a:rPr>
              <a:t> - </a:t>
            </a:r>
            <a:r>
              <a:rPr lang="pl-PL" sz="1200" dirty="0" err="1">
                <a:hlinkClick r:id="rId2"/>
              </a:rPr>
              <a:t>Aerial</a:t>
            </a:r>
            <a:r>
              <a:rPr lang="pl-PL" sz="1200" dirty="0">
                <a:hlinkClick r:id="rId2"/>
              </a:rPr>
              <a:t> </a:t>
            </a:r>
            <a:r>
              <a:rPr lang="pl-PL" sz="1200" dirty="0" err="1">
                <a:hlinkClick r:id="rId2"/>
              </a:rPr>
              <a:t>Photography</a:t>
            </a:r>
            <a:r>
              <a:rPr lang="pl-PL" sz="1200" dirty="0"/>
              <a:t> </a:t>
            </a:r>
          </a:p>
        </p:txBody>
      </p:sp>
      <p:pic>
        <p:nvPicPr>
          <p:cNvPr id="2050" name="Picture 2" descr="aerial photography of red roof houses at daytime">
            <a:extLst>
              <a:ext uri="{FF2B5EF4-FFF2-40B4-BE49-F238E27FC236}">
                <a16:creationId xmlns:a16="http://schemas.microsoft.com/office/drawing/2014/main" id="{555E2A2E-92A8-2506-D67C-18AD310ED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094" y="1738849"/>
            <a:ext cx="5792883" cy="386192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8643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1075447" y="2370670"/>
            <a:ext cx="1856232" cy="1664208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pl-PL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Zaprojektowanie prezentacji w </a:t>
            </a:r>
            <a:r>
              <a:rPr lang="pl-PL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powerpoint</a:t>
            </a:r>
            <a:r>
              <a:rPr lang="pl-PL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- dodanie punktu 2,3,4,5 (podpunkt </a:t>
            </a:r>
            <a:r>
              <a:rPr lang="pl-PL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a,b</a:t>
            </a:r>
            <a:r>
              <a:rPr lang="pl-PL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algn="l"/>
            <a:r>
              <a:rPr lang="pl-PL" b="0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—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2754FA1-2477-8F27-DF3F-88ACDF9CD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788813"/>
            <a:ext cx="2330726" cy="804859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08A1C6A-582D-9D79-7DF5-BBD59C5BAAE0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838200" y="4464810"/>
            <a:ext cx="2330726" cy="438505"/>
          </a:xfrm>
        </p:spPr>
        <p:txBody>
          <a:bodyPr/>
          <a:lstStyle/>
          <a:p>
            <a:endParaRPr lang="en-US"/>
          </a:p>
        </p:txBody>
      </p:sp>
      <p:pic>
        <p:nvPicPr>
          <p:cNvPr id="18" name="Content Placeholder 17" descr="A graph with purple bars&#10;&#10;AI-generated content may be incorrect.">
            <a:extLst>
              <a:ext uri="{FF2B5EF4-FFF2-40B4-BE49-F238E27FC236}">
                <a16:creationId xmlns:a16="http://schemas.microsoft.com/office/drawing/2014/main" id="{5C5B3E88-8731-C354-E01A-3BB4C000CF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891948" y="1279261"/>
            <a:ext cx="6966744" cy="4299477"/>
          </a:xfrm>
        </p:spPr>
      </p:pic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B760F808-66FB-978B-4D46-B1577C7D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40" name="Date Placeholder 2">
            <a:extLst>
              <a:ext uri="{FF2B5EF4-FFF2-40B4-BE49-F238E27FC236}">
                <a16:creationId xmlns:a16="http://schemas.microsoft.com/office/drawing/2014/main" id="{F4D7F34E-2490-B3E8-A966-EDA839C1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42" name="Footer Placeholder 3">
            <a:extLst>
              <a:ext uri="{FF2B5EF4-FFF2-40B4-BE49-F238E27FC236}">
                <a16:creationId xmlns:a16="http://schemas.microsoft.com/office/drawing/2014/main" id="{A4B30FAC-294E-BBBB-DD79-6755AB3EF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Pitch Deck</a:t>
            </a:r>
          </a:p>
        </p:txBody>
      </p:sp>
      <p:sp>
        <p:nvSpPr>
          <p:cNvPr id="44" name="Slide Number Placeholder 4">
            <a:extLst>
              <a:ext uri="{FF2B5EF4-FFF2-40B4-BE49-F238E27FC236}">
                <a16:creationId xmlns:a16="http://schemas.microsoft.com/office/drawing/2014/main" id="{4022D23E-BC35-48FD-6898-DF0D95BA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4B4829F9-0287-96A0-B485-056047E1F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554" y="2029771"/>
            <a:ext cx="7471602" cy="36972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38561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10257-6F02-E9F4-D324-F5E02915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DC2B9-5A90-D5E6-D3CA-DCCEB241B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4156405"/>
            <a:ext cx="3139440" cy="1325563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B9804769-2034-9871-CBBC-2E0BEA7D6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925" y="284833"/>
            <a:ext cx="3296110" cy="657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979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8A64B-EF3E-D26B-B5D1-62492E412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6B56B-6D1C-819E-54FB-24DC38B2F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4156405"/>
            <a:ext cx="3139440" cy="1325563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56AB96-BFD8-904E-3B0D-A91A474D5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713" y="303885"/>
            <a:ext cx="3496163" cy="655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083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B4B6-EA0F-600C-C966-18DAEBBFF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B86CC-BCAF-63E2-4473-3A88B29C5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4156405"/>
            <a:ext cx="3139440" cy="1325563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CC1879-D189-DFA8-D942-4928BEA08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6160" y="1154612"/>
            <a:ext cx="7708318" cy="248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0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2C971-BB57-606A-92DA-F29331ACB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0F5B-CCC3-A940-6D81-F98B6477A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4156405"/>
            <a:ext cx="3139440" cy="1325563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E00D5C-8E1B-3848-BBCA-909AF0A66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943582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703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E0A63-A388-49B1-A04E-27CE9BD62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0169" y="1152771"/>
            <a:ext cx="5431971" cy="846301"/>
          </a:xfrm>
        </p:spPr>
        <p:txBody>
          <a:bodyPr/>
          <a:lstStyle/>
          <a:p>
            <a:r>
              <a:rPr lang="en-US" dirty="0"/>
              <a:t>BUSINESS MODEL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640DF9D-0C9E-4C5D-9635-6B4DE10CCE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22254" y="2469515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noProof="1"/>
              <a:t>ABSTRACT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0297407-CE4E-4284-879D-AEC39571362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/>
          <a:p>
            <a:r>
              <a:rPr lang="en-US" noProof="1"/>
              <a:t>We based our research on market trends and social media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5C3A7BE-F7FC-4942-A31A-491A8A80610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922254" y="3569311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noProof="1"/>
              <a:t>DESIGN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5CCE699-03D1-4642-B46A-B14EF17DA18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/>
          <a:p>
            <a:r>
              <a:rPr lang="en-US" noProof="1"/>
              <a:t>We believe people need more products specifically dedicated to this niche market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1DF189-6F2F-4C21-88CC-C82D3D0D147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922254" y="4669107"/>
            <a:ext cx="5433204" cy="3651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noProof="1"/>
              <a:t>RESEARCH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E82690-B145-4D4F-B2D1-0B2A8C50FD7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/>
          <a:p>
            <a:r>
              <a:rPr lang="en-US" noProof="1"/>
              <a:t>Minimalist and easy to use </a:t>
            </a:r>
          </a:p>
        </p:txBody>
      </p:sp>
      <p:sp>
        <p:nvSpPr>
          <p:cNvPr id="32" name="Date Placeholder 31">
            <a:extLst>
              <a:ext uri="{FF2B5EF4-FFF2-40B4-BE49-F238E27FC236}">
                <a16:creationId xmlns:a16="http://schemas.microsoft.com/office/drawing/2014/main" id="{D5DB19F8-B538-4965-BA90-ED372B99F5DC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5C44B1-BA82-483C-BD91-F89067442F9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D4A67-3A46-4F54-A12A-EAE1B53E645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393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54ABB-4929-4810-950B-2DAEA0A5B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2B089-A8F9-45B1-BE6E-EAC10163F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3104" y="2776936"/>
            <a:ext cx="2882475" cy="823912"/>
          </a:xfrm>
        </p:spPr>
        <p:txBody>
          <a:bodyPr/>
          <a:lstStyle/>
          <a:p>
            <a:r>
              <a:rPr lang="en-US" dirty="0"/>
              <a:t>$3 Billion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B35F89A-6CDF-41F7-BD87-18B45BD733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/>
              <a:t>Freedom to invent</a:t>
            </a:r>
            <a:endParaRPr lang="en-US" dirty="0"/>
          </a:p>
          <a:p>
            <a:r>
              <a:rPr lang="en-US" noProof="1"/>
              <a:t>Selectively inclusive market</a:t>
            </a:r>
          </a:p>
          <a:p>
            <a:r>
              <a:rPr lang="en-US" noProof="1"/>
              <a:t>Serviceable available market</a:t>
            </a:r>
          </a:p>
          <a:p>
            <a:endParaRPr lang="en-US" noProof="1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FE22F9B-4BF8-41DC-8F1C-836B546E59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7665" y="2776936"/>
            <a:ext cx="2896671" cy="823912"/>
          </a:xfrm>
        </p:spPr>
        <p:txBody>
          <a:bodyPr/>
          <a:lstStyle/>
          <a:p>
            <a:r>
              <a:rPr lang="en-US" dirty="0"/>
              <a:t>$1 Billion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E1C399-8F48-44F5-9461-3C89866D4C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/>
          <a:lstStyle/>
          <a:p>
            <a:r>
              <a:rPr lang="en-US" dirty="0"/>
              <a:t>Opportunity to build</a:t>
            </a:r>
          </a:p>
          <a:p>
            <a:r>
              <a:rPr lang="en-US" dirty="0"/>
              <a:t>Fully inclusive market</a:t>
            </a:r>
          </a:p>
          <a:p>
            <a:r>
              <a:rPr lang="en-US" dirty="0"/>
              <a:t>Total addressable market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515C5D-2CDB-4E66-B2B8-1451BC44247F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8066421" y="2776936"/>
            <a:ext cx="2882475" cy="82391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$2 Billion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92B9716-8D44-4864-8986-720957B3436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/>
          <a:lstStyle/>
          <a:p>
            <a:r>
              <a:rPr lang="en-US" noProof="1"/>
              <a:t>Few competitors</a:t>
            </a:r>
          </a:p>
          <a:p>
            <a:r>
              <a:rPr lang="en-US" noProof="1"/>
              <a:t>Specifically targeted market</a:t>
            </a:r>
          </a:p>
          <a:p>
            <a:r>
              <a:rPr lang="en-US" noProof="1"/>
              <a:t>Serviceable obtainable market</a:t>
            </a:r>
            <a:endParaRPr lang="en-US" dirty="0"/>
          </a:p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B78F7A0-88C5-4940-B21C-099F472F39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2186069-FC8E-433D-9BB4-942220CE8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AD5B6F4-0A90-447A-A1AE-D75C934B6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17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7F2-35DE-27ED-C02A-776198D62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8AFEB-AA76-7795-67B5-04E5FB909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35952F-344A-6C2B-4C63-E34FC1B0AB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D47DA4-4A09-E002-FECB-627833A1C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31C1F77-DF98-5CF3-F9F5-74866C961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B5F7E40-C75D-679D-48D6-EACF12AEB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612" y="174401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94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33BDD-13F6-4A4A-26C3-E4912C8D6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0A251-AA4D-27A7-4523-DC6084440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9A1F978-B17D-C499-753E-6282D96A03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307E726-42F1-15BC-6A69-75F0E9B81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25A6E9-C566-DFDB-FFF6-409AC2251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CA9583-E5EB-7319-E8A2-71DA16A75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336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2181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F1387-72B4-6F39-DDFC-ECD5A9A3A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0B07D-9333-708F-1F7A-727CDE338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3ADDFED2-325D-2329-C6F8-73E2CEEEA78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20F688B-233E-7DC1-4E78-D16884B0B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355EE5A-4C75-2C19-C72D-99A4DCCE3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2026-43A5-61F3-EE10-1BC3258D1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071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395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61D12-99F8-7005-CC9D-01A30E6A9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262DF-9465-9C5C-2C13-E1D5563F7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5F8B754-F530-EEB0-0B17-D5CB3692B1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4AD3FB4-F6A1-FCEB-E06B-8336108D6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CFB05A8-5D40-4A34-4C7B-760D2D168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556246-7EFB-6C8A-9EBE-0A6714C30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850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448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D0CA1-9558-516C-84E7-02F7DD75D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3EAD9-B626-AEDD-DBDE-B20FE7B82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0F5098-0C97-5C97-9DAE-7CE5A7A6B8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B601BC9-6375-EB32-8E96-07778E16E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A9681B4-8134-13E6-60B0-C77D37A54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321A66-16DE-08CC-D6AF-6799EDD66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650" y="1467409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775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583AD-7849-6538-DC83-2B8632E79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5CD39-90ED-B20C-71CB-6F1686648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5246802C-D77B-6F8F-0CD9-F463832CA6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45D886D-7105-6328-682B-D6DFA7E88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659D58B-AD27-922F-AC29-A68349413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2868BE-EA00-A7AC-D612-A2BBC6849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0" y="1371600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0341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5781D-B092-3A0F-46B0-DF27F503C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135AF-D207-6597-DCB3-C4572576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E80EA6D-1244-92BA-337D-8C3C4EF577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F3B1507-4B8C-957C-E627-101AC447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3AE8E13-A47C-3E7A-F767-BAAF45CF4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2990A-7CB5-59DF-F670-4765067BD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575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766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5218-5146-79A0-681F-78576DB8F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D52CA-6952-1A0A-BBB0-1DAC522F5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4FA31FD-8498-DB1F-1E78-A65D48ADE1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044E3A9-D818-9454-F7F2-E6BF13813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F8F46C2-36F7-2B51-C1D8-EB50E70B3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00AEA6-2192-F118-CDAE-6BB71193E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650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142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4708D-24CA-4D67-66DC-BEE28E256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77119-A7E3-AFBA-65C5-92596AC8A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512" y="229395"/>
            <a:ext cx="8421688" cy="1325563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5EF780F-E8A7-F88D-FF69-C4CF95B07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2939AFD-EB64-6BF9-02CA-9AB772349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FF8FAA6-EC22-4989-7A0E-50E6B3D1B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B6090D-5772-99AD-5EFE-0541A85E4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1554958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858255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56180624 Minimalist light sales pitch_Win32_v3" id="{10980D2D-A96C-4E9B-A00E-81C4CAF0ABBD}" vid="{7928933E-F394-4192-9CD9-6D2A259AB5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light sales pitch</Template>
  <TotalTime>53</TotalTime>
  <Words>352</Words>
  <Application>Microsoft Office PowerPoint</Application>
  <PresentationFormat>Panoramiczny</PresentationFormat>
  <Paragraphs>103</Paragraphs>
  <Slides>21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21</vt:i4>
      </vt:variant>
    </vt:vector>
  </HeadingPairs>
  <TitlesOfParts>
    <vt:vector size="25" baseType="lpstr">
      <vt:lpstr>Arial</vt:lpstr>
      <vt:lpstr>Calibri</vt:lpstr>
      <vt:lpstr>Tenorite</vt:lpstr>
      <vt:lpstr>Monoline</vt:lpstr>
      <vt:lpstr>Ekonometria przestrzenna</vt:lpstr>
      <vt:lpstr>Prezentacja programu PowerPoint</vt:lpstr>
      <vt:lpstr>Wprowadzenie</vt:lpstr>
      <vt:lpstr>Problem badawczy i pytania</vt:lpstr>
      <vt:lpstr>Prezentacja programu PowerPoint</vt:lpstr>
      <vt:lpstr>Prezentacja programu PowerPoint</vt:lpstr>
      <vt:lpstr>PRODUCT OVERVIEW</vt:lpstr>
      <vt:lpstr>PRODUCT OVERVIEW</vt:lpstr>
      <vt:lpstr>PRODUCT OVERVIEW</vt:lpstr>
      <vt:lpstr>PRODUCT OVERVIEW</vt:lpstr>
      <vt:lpstr>BUSINESS MODEL</vt:lpstr>
      <vt:lpstr>MARKET OVERVIEW</vt:lpstr>
      <vt:lpstr>MARKET OVERVIEW</vt:lpstr>
      <vt:lpstr>MARKET OVERVIEW</vt:lpstr>
      <vt:lpstr>MARKET OVERVIEW</vt:lpstr>
      <vt:lpstr>MARKET OVERVIEW</vt:lpstr>
      <vt:lpstr>MARKET OVERVIEW</vt:lpstr>
      <vt:lpstr>MARKET OVERVIEW</vt:lpstr>
      <vt:lpstr>MARKET OVERVIEW</vt:lpstr>
      <vt:lpstr>MARKET OVERVIEW</vt:lpstr>
      <vt:lpstr>MARKET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Klaudia Woźniak</dc:creator>
  <cp:lastModifiedBy>Piotr Wiśniewski</cp:lastModifiedBy>
  <cp:revision>7</cp:revision>
  <dcterms:created xsi:type="dcterms:W3CDTF">2025-05-08T17:30:40Z</dcterms:created>
  <dcterms:modified xsi:type="dcterms:W3CDTF">2025-06-02T15:45:59Z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